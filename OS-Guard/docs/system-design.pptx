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308" r:id="rId5"/>
    <p:sldId id="262" r:id="rId6"/>
    <p:sldId id="263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300" r:id="rId21"/>
    <p:sldId id="301" r:id="rId22"/>
    <p:sldId id="302" r:id="rId23"/>
    <p:sldId id="303" r:id="rId24"/>
    <p:sldId id="279" r:id="rId25"/>
    <p:sldId id="280" r:id="rId26"/>
    <p:sldId id="281" r:id="rId27"/>
    <p:sldId id="304" r:id="rId28"/>
    <p:sldId id="283" r:id="rId29"/>
    <p:sldId id="284" r:id="rId30"/>
    <p:sldId id="285" r:id="rId31"/>
    <p:sldId id="286" r:id="rId32"/>
    <p:sldId id="305" r:id="rId33"/>
    <p:sldId id="306" r:id="rId34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문서 전체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FR-03~07, FR-10, NFR-07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FR-01~24, NFR-02, NFR-05, NFR-09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30B73-3640-AF0D-559B-9453DA83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4FEB9-4822-E5B4-CABB-562F9DFA0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36A6D-6190-210C-2DFE-03FB779AE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FR-01~24, NFR-02, NFR-05, NFR-09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11C61-14B3-B073-1497-225BB383AF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5237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FR-01~03, NFR-02, NFR-10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FR-04~10, FR-17, NFR-08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FR-01~24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FR-24, NFR-01, NFR-02, NFR-06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FR-02, FR-10, FR-17~19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FR-01~03, NFR-02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FR-02~03, NFR-03, NFR-10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FR-04~06, FR-10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FR-07~10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FR-08~09, FR-21~22, NFR-05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FR-11~14, NFR-01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FR-11, FR-15~17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FR-16~18, NFR-06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FR-19~20, NFR-06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FR-05~06, FR-11, NFR-04, NFR-07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FR-19~20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FR-17~20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FR-20·24, NFR-06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FR-13~14·24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NFR-01~03, NFR-06, NFR-08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FR-01, FR-09~24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FR-01~04, FR-08, FR-13, FR-16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FR-19~20·24</a:t>
            </a:r>
          </a:p>
          <a:p>
            <a:r>
              <a:t>POST 비교 요청은 계산 가능한 과거 두 월을 입력받고 서버가 query_as_of를 부여한다. 두 월의 시간순 정렬은 서버가 canonicalize하여 baseline_month &lt; comparison_month를 보장하고 응답에 확정 월을 반환한다. 월 형식 오류·동일 월·미래 월은 422. 권한 부족은 403. 큰 조회를 비동기로 전환할 때에는 별도 계약 버전에서 202/job 모델을 정의한다. 현재 설계는 201 스냅샷 생성 모델이다. comparison_id와 snapshot_id는 이 버전에서 1:1이며 새 조회는 새 ID를 만든다.</a:t>
            </a:r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FR-01~03, NFR-02, NFR-10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요구사항정의서_바다돌맹이_월별비교반영_수정본(2).docx FR-04~06, FR-17, FR-20. 설계 제안: manifest_id가 가리키는 서명/해시 검증된 로컬 배포 매니페스트에서 예정 item_ids, policy_version, profile_version, module_version, 허용 파라미터를 해석한다. criteria_snapshot_id는 실행 시 OS·역할·기준 버전을 고정한다. Agent는 매니페스트가 없거나 불일치하면 실행을 거부한다. criteria_snapshot_id는 중앙에 고정된 당시 inventory와 배포 기준의 참조이며 Agent는 실행 시 inventory_version과 manifest_version을 다시 보고한다. 중앙은 예상 스냅샷과 대조해 불일치 시 회차를 시작하지 않는다. 실제 실행 started 이벤트에서 서버와 Agent가 지원성을 검증한다. HARDEN AUTO는 grant_id, APPROVAL과 모든 ROLLBACK은 approval_id가 필수다. 승인 대기는 claim에서 제외한다. Agent 수신 이벤트와 실행 journal을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FR-07~08, FR-10, FR-17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문서: 요구사항정의서_바다돌맹이_월별비교반영_수정본(2).docx</a:t>
            </a:r>
          </a:p>
          <a:p>
            <a:r>
              <a:t>관련 요구사항: FR-12~18, NFR-01, NFR-06</a:t>
            </a:r>
          </a:p>
          <a:p>
            <a:endParaRPr/>
          </a:p>
          <a:p>
            <a:r>
              <a:t>본 문서의 API 경로, 필드, 통신 주기, UI 및 저장구조는 요구사항을 구현하기 위한 설계 제안이다. 화면 수치와 JSON 식별자는 예시이다.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요약 응답은 두 코드 블록의 필드를 같은 응답 객체에 포함한다. 각 월 전체 현황 baseline_all_counts={PASS:70,FAIL:40,NA:10,UNABLE:5,PENDING:6}, comparison_all_counts={PASS:78,FAIL:34,NA:8,UNABLE:4,PENDING:7}와 missing_result_count, not_performed_server_count, ongoing_run_count, new/removed_server_count, first_detected_count를 별도 필드로 추가한다. 이 예시에서는 추가 서버/누락/미수행은 0이다. PENDING은 집계 키이며 최종 판정 enum이 아니다. 서버·영역·중요도별 그룹 결과도 동일 공통 집합 및 제외 규칙을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수동 판정·정정은 인증 사용자와 서버 시각을 사용한다. 최초 pending에는 확정 판정 기록이 없으므로 supersedes_id=null이다. 이미 확정된 판정을 정정하면 기존 judgment_id를 supersedes_id로 연결하고 correction_reason을 필수로 받는다. 기존 응답 snapshot에는 새 판정이 소급 반영되지 않는다. criteria_relation_id=null은 동일 기준 직접 비교를 뜻하며 서로 다른 기준인데 null이면 비교 불가다. recurrence_history는 지속 취약 항목의 중간 재발 여부 전용 보조 플래그다. RECURRENT의 증거는 recurrence_judgment_ids로 제공한다.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F352027-87DD-461B-93E2-F646D5839DC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2" name="통합 설계안 v0.3">
            <a:extLst>
              <a:ext uri="{FF2B5EF4-FFF2-40B4-BE49-F238E27FC236}">
                <a16:creationId xmlns:a16="http://schemas.microsoft.com/office/drawing/2014/main" id="{2DA3C42E-0E1F-4E1E-B0CE-7C4F453991ED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통합 설계안 v0.3</a:t>
            </a:r>
          </a:p>
        </p:txBody>
      </p:sp>
      <p:sp>
        <p:nvSpPr>
          <p:cNvPr id="4" name="바다돌맹이">
            <a:extLst>
              <a:ext uri="{FF2B5EF4-FFF2-40B4-BE49-F238E27FC236}">
                <a16:creationId xmlns:a16="http://schemas.microsoft.com/office/drawing/2014/main" id="{F500F534-6386-4BC1-8461-807A100233B0}"/>
              </a:ext>
            </a:extLst>
          </p:cNvPr>
          <p:cNvSpPr>
            <a:spLocks noGrp="1"/>
          </p:cNvSpPr>
          <p:nvPr/>
        </p:nvSpPr>
        <p:spPr>
          <a:xfrm>
            <a:off x="704850" y="962025"/>
            <a:ext cx="1381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82D3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82D3D4"/>
                </a:solidFill>
                <a:latin typeface="Noto Sans CJK KR"/>
                <a:ea typeface="Noto Sans CJK KR"/>
                <a:cs typeface="Noto Sans CJK KR"/>
              </a:rPr>
              <a:t>바다돌맹이</a:t>
            </a:r>
          </a:p>
        </p:txBody>
      </p:sp>
      <p:sp>
        <p:nvSpPr>
          <p:cNvPr id="5" name="OS 보안 점검 및&#10;Agent 기반 하드닝 시스템">
            <a:extLst>
              <a:ext uri="{FF2B5EF4-FFF2-40B4-BE49-F238E27FC236}">
                <a16:creationId xmlns:a16="http://schemas.microsoft.com/office/drawing/2014/main" id="{DADC1ECD-E277-413A-8CBB-9504EEFB3B04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139065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OS 보안 점검 및</a:t>
            </a:r>
          </a:p>
          <a:p>
            <a:pPr algn="l">
              <a:defRPr sz="4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Agent 기반 하드닝 시스템</a:t>
            </a:r>
          </a:p>
        </p:txBody>
      </p:sp>
      <p:sp>
        <p:nvSpPr>
          <p:cNvPr id="6" name="시스템 · 화면 · 월별 비교 · API·DB · 개발 디렉토리">
            <a:extLst>
              <a:ext uri="{FF2B5EF4-FFF2-40B4-BE49-F238E27FC236}">
                <a16:creationId xmlns:a16="http://schemas.microsoft.com/office/drawing/2014/main" id="{44CDDAEA-8C76-412E-936C-DA6F3A621DEE}"/>
              </a:ext>
            </a:extLst>
          </p:cNvPr>
          <p:cNvSpPr>
            <a:spLocks noGrp="1"/>
          </p:cNvSpPr>
          <p:nvPr/>
        </p:nvSpPr>
        <p:spPr>
          <a:xfrm>
            <a:off x="723900" y="4524375"/>
            <a:ext cx="1362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>
                <a:solidFill>
                  <a:srgbClr val="C7DEE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C7DEE8"/>
                </a:solidFill>
                <a:latin typeface="Noto Sans CJK KR"/>
                <a:ea typeface="Noto Sans CJK KR"/>
                <a:cs typeface="Noto Sans CJK KR"/>
              </a:rPr>
              <a:t>시스템 · 화면 · 월별 비교 · API·DB · 개발 디렉토리</a:t>
            </a:r>
          </a:p>
        </p:txBody>
      </p:sp>
      <p:sp>
        <p:nvSpPr>
          <p:cNvPr id="7" name="월별 비교 반영 통합 시스템 설계서  v0.3">
            <a:extLst>
              <a:ext uri="{FF2B5EF4-FFF2-40B4-BE49-F238E27FC236}">
                <a16:creationId xmlns:a16="http://schemas.microsoft.com/office/drawing/2014/main" id="{13CAF713-B3DC-409F-8C0F-6B8A7DF4CF60}"/>
              </a:ext>
            </a:extLst>
          </p:cNvPr>
          <p:cNvSpPr>
            <a:spLocks noGrp="1"/>
          </p:cNvSpPr>
          <p:nvPr/>
        </p:nvSpPr>
        <p:spPr>
          <a:xfrm>
            <a:off x="723900" y="6477000"/>
            <a:ext cx="1333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월별 비교 반영 통합 시스템 설계서  v0.3</a:t>
            </a:r>
          </a:p>
        </p:txBody>
      </p:sp>
      <p:sp>
        <p:nvSpPr>
          <p:cNvPr id="8" name="2026.09.15   /   김민지 · 김나윤 · 안소영">
            <a:extLst>
              <a:ext uri="{FF2B5EF4-FFF2-40B4-BE49-F238E27FC236}">
                <a16:creationId xmlns:a16="http://schemas.microsoft.com/office/drawing/2014/main" id="{130EAF61-6A3D-4494-B128-255D1FF65B3F}"/>
              </a:ext>
            </a:extLst>
          </p:cNvPr>
          <p:cNvSpPr>
            <a:spLocks noGrp="1"/>
          </p:cNvSpPr>
          <p:nvPr/>
        </p:nvSpPr>
        <p:spPr>
          <a:xfrm>
            <a:off x="723900" y="7067550"/>
            <a:ext cx="1333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B2CB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B2CBD7"/>
                </a:solidFill>
                <a:latin typeface="Noto Sans CJK KR"/>
                <a:ea typeface="Noto Sans CJK KR"/>
                <a:cs typeface="Noto Sans CJK KR"/>
              </a:rPr>
              <a:t>2026.09.15   /   김민지 · 김나윤 · 안소영</a:t>
            </a:r>
          </a:p>
        </p:txBody>
      </p:sp>
    </p:spTree>
    <p:extLst>
      <p:ext uri="{BB962C8B-B14F-4D97-AF65-F5344CB8AC3E}">
        <p14:creationId xmlns:p14="http://schemas.microsoft.com/office/powerpoint/2010/main" val="173797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점검 범위와 적용 대상">
            <a:extLst>
              <a:ext uri="{FF2B5EF4-FFF2-40B4-BE49-F238E27FC236}">
                <a16:creationId xmlns:a16="http://schemas.microsoft.com/office/drawing/2014/main" id="{158BE41F-3734-42EC-B09B-95C28B4145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점검 범위와 적용 대상</a:t>
            </a:r>
          </a:p>
        </p:txBody>
      </p:sp>
      <p:sp>
        <p:nvSpPr>
          <p:cNvPr id="2" name="등록 범위는 131개이며, 서버별 실행 범위는 해당 OS의 코드로 구성">
            <a:extLst>
              <a:ext uri="{FF2B5EF4-FFF2-40B4-BE49-F238E27FC236}">
                <a16:creationId xmlns:a16="http://schemas.microsoft.com/office/drawing/2014/main" id="{2C2AEBA9-6315-4892-9913-5A813B44128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등록 범위는 131개이며, 서버별 실행 범위는 해당 OS의 코드로 구성</a:t>
            </a:r>
          </a:p>
        </p:txBody>
      </p:sp>
      <p:sp>
        <p:nvSpPr>
          <p:cNvPr id="3" name="FR-03~07, FR-10, NFR-07  ·  통합 설계안 v0.3">
            <a:extLst>
              <a:ext uri="{FF2B5EF4-FFF2-40B4-BE49-F238E27FC236}">
                <a16:creationId xmlns:a16="http://schemas.microsoft.com/office/drawing/2014/main" id="{A1F54E9C-86EC-49E3-A325-160130E404C4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FR-03~07, FR-10, NFR-07  ·  통합 설계안 v0.3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609600" y="1809750"/>
          <a:ext cx="9429750" cy="5657848"/>
        </p:xfrm>
        <a:graphic>
          <a:graphicData uri="http://schemas.openxmlformats.org/drawingml/2006/table">
            <a:tbl>
              <a:tblPr/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72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영역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Unix 코드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Windows 코드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계정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U-01~U-13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W-01~W-14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파일·디렉터리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U-14~U-33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 영역 없음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서비스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U-34~U-63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W-15~W-37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패치 관리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U-64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W-38~W-39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로그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U-65~U-67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W-40~W-43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보안 관리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 영역 없음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W-44~W-64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72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합계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Unix 항목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Windows 항목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대상 환경">
            <a:extLst>
              <a:ext uri="{FF2B5EF4-FFF2-40B4-BE49-F238E27FC236}">
                <a16:creationId xmlns:a16="http://schemas.microsoft.com/office/drawing/2014/main" id="{5BDB93EB-B323-4115-8731-C8912158FD3B}"/>
              </a:ext>
            </a:extLst>
          </p:cNvPr>
          <p:cNvSpPr>
            <a:spLocks noGrp="1"/>
          </p:cNvSpPr>
          <p:nvPr/>
        </p:nvSpPr>
        <p:spPr>
          <a:xfrm>
            <a:off x="10525125" y="185737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대상 환경</a:t>
            </a:r>
          </a:p>
        </p:txBody>
      </p:sp>
      <p:sp>
        <p:nvSpPr>
          <p:cNvPr id="7" name="Rocky Linux 9/10 계열&#10;Ubuntu 22.04/24.04 LTS&#10;Windows">
            <a:extLst>
              <a:ext uri="{FF2B5EF4-FFF2-40B4-BE49-F238E27FC236}">
                <a16:creationId xmlns:a16="http://schemas.microsoft.com/office/drawing/2014/main" id="{26216763-1973-4B0E-9A02-91D23AE14E73}"/>
              </a:ext>
            </a:extLst>
          </p:cNvPr>
          <p:cNvSpPr>
            <a:spLocks noGrp="1"/>
          </p:cNvSpPr>
          <p:nvPr/>
        </p:nvSpPr>
        <p:spPr>
          <a:xfrm>
            <a:off x="10525125" y="2295525"/>
            <a:ext cx="40957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Rocky Linux 9/10 </a:t>
            </a:r>
            <a:r>
              <a:rPr sz="1875" b="0" dirty="0" err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계열</a:t>
            </a:r>
            <a:endParaRPr sz="1875" b="0" dirty="0">
              <a:solidFill>
                <a:srgbClr val="183B50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def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Ubuntu 22/24</a:t>
            </a:r>
          </a:p>
          <a:p>
            <a:pPr algn="l">
              <a:def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Windows Server 2022</a:t>
            </a:r>
          </a:p>
        </p:txBody>
      </p:sp>
      <p:sp>
        <p:nvSpPr>
          <p:cNvPr id="8" name="적용성 분기">
            <a:extLst>
              <a:ext uri="{FF2B5EF4-FFF2-40B4-BE49-F238E27FC236}">
                <a16:creationId xmlns:a16="http://schemas.microsoft.com/office/drawing/2014/main" id="{405CC786-5F85-4472-A4B1-EDB655D48F4E}"/>
              </a:ext>
            </a:extLst>
          </p:cNvPr>
          <p:cNvSpPr>
            <a:spLocks noGrp="1"/>
          </p:cNvSpPr>
          <p:nvPr/>
        </p:nvSpPr>
        <p:spPr>
          <a:xfrm>
            <a:off x="10525125" y="368617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적용성 분기</a:t>
            </a:r>
          </a:p>
        </p:txBody>
      </p:sp>
      <p:sp>
        <p:nvSpPr>
          <p:cNvPr id="9" name="OS 버전·설치 서비스·서버 역할을 먼저 수집합니다.">
            <a:extLst>
              <a:ext uri="{FF2B5EF4-FFF2-40B4-BE49-F238E27FC236}">
                <a16:creationId xmlns:a16="http://schemas.microsoft.com/office/drawing/2014/main" id="{C40FE7B7-4E89-4B1D-9623-163490FE2F21}"/>
              </a:ext>
            </a:extLst>
          </p:cNvPr>
          <p:cNvSpPr>
            <a:spLocks noGrp="1"/>
          </p:cNvSpPr>
          <p:nvPr/>
        </p:nvSpPr>
        <p:spPr>
          <a:xfrm>
            <a:off x="10525125" y="4124325"/>
            <a:ext cx="40957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OS 버전·설치 서비스·서버 역할을 먼저 수집합니다.</a:t>
            </a:r>
          </a:p>
        </p:txBody>
      </p:sp>
      <p:sp>
        <p:nvSpPr>
          <p:cNvPr id="10" name="진행률 구분">
            <a:extLst>
              <a:ext uri="{FF2B5EF4-FFF2-40B4-BE49-F238E27FC236}">
                <a16:creationId xmlns:a16="http://schemas.microsoft.com/office/drawing/2014/main" id="{0F464DF4-5E6F-41D5-BBFC-3095054A1013}"/>
              </a:ext>
            </a:extLst>
          </p:cNvPr>
          <p:cNvSpPr>
            <a:spLocks noGrp="1"/>
          </p:cNvSpPr>
          <p:nvPr/>
        </p:nvSpPr>
        <p:spPr>
          <a:xfrm>
            <a:off x="10525125" y="551497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진행률 구분</a:t>
            </a:r>
          </a:p>
        </p:txBody>
      </p:sp>
      <p:sp>
        <p:nvSpPr>
          <p:cNvPr id="11" name="예정 항목 중 자동 단계 종료율&#10;131개는 전체 관리 범위">
            <a:extLst>
              <a:ext uri="{FF2B5EF4-FFF2-40B4-BE49-F238E27FC236}">
                <a16:creationId xmlns:a16="http://schemas.microsoft.com/office/drawing/2014/main" id="{925E000C-CE9D-421C-A7EC-AFB32C387BFD}"/>
              </a:ext>
            </a:extLst>
          </p:cNvPr>
          <p:cNvSpPr>
            <a:spLocks noGrp="1"/>
          </p:cNvSpPr>
          <p:nvPr/>
        </p:nvSpPr>
        <p:spPr>
          <a:xfrm>
            <a:off x="10525125" y="5953125"/>
            <a:ext cx="40957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예정 항목 중 자동 단계 종료율</a:t>
            </a:r>
          </a:p>
          <a:p>
            <a:pPr algn="l">
              <a:def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131개는 전체 관리 범위</a:t>
            </a:r>
          </a:p>
        </p:txBody>
      </p:sp>
    </p:spTree>
    <p:extLst>
      <p:ext uri="{BB962C8B-B14F-4D97-AF65-F5344CB8AC3E}">
        <p14:creationId xmlns:p14="http://schemas.microsoft.com/office/powerpoint/2010/main" val="103867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전체 시스템 구성도">
            <a:extLst>
              <a:ext uri="{FF2B5EF4-FFF2-40B4-BE49-F238E27FC236}">
                <a16:creationId xmlns:a16="http://schemas.microsoft.com/office/drawing/2014/main" id="{C90FC4E6-59A1-4485-8230-79243FEA39C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전체 시스템 구성도</a:t>
            </a:r>
          </a:p>
        </p:txBody>
      </p:sp>
      <p:sp>
        <p:nvSpPr>
          <p:cNvPr id="2" name="중앙에서 작업을 관리하고 OS Agent가 대상 서버에서 점검·조치를 실행">
            <a:extLst>
              <a:ext uri="{FF2B5EF4-FFF2-40B4-BE49-F238E27FC236}">
                <a16:creationId xmlns:a16="http://schemas.microsoft.com/office/drawing/2014/main" id="{9D400D25-246A-4BBE-B44E-C9432CEF6A3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중앙에서</a:t>
            </a:r>
            <a:r>
              <a:rPr sz="1725" b="0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작업을</a:t>
            </a:r>
            <a:r>
              <a:rPr sz="1725" b="0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관리하고</a:t>
            </a:r>
            <a:r>
              <a:rPr sz="1725" b="0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 OS </a:t>
            </a: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Agent가</a:t>
            </a:r>
            <a:r>
              <a:rPr sz="1725" b="0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대상</a:t>
            </a:r>
            <a:r>
              <a:rPr sz="1725" b="0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서버에서</a:t>
            </a:r>
            <a:r>
              <a:rPr sz="1725" b="0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점검·조치를</a:t>
            </a:r>
            <a:r>
              <a:rPr sz="1725" b="0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725" b="0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실행</a:t>
            </a:r>
            <a:endParaRPr sz="1725" b="0" dirty="0">
              <a:solidFill>
                <a:srgbClr val="5E728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FR-01~24, NFR-02, NFR-05, NFR-09  ·  통합 설계안 v0.3">
            <a:extLst>
              <a:ext uri="{FF2B5EF4-FFF2-40B4-BE49-F238E27FC236}">
                <a16:creationId xmlns:a16="http://schemas.microsoft.com/office/drawing/2014/main" id="{A72B31B6-4F69-4A36-A554-6A1ED1D47D5F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FR-01~24, NFR-02, NFR-05, NFR-09  ·  통합 설계안 v0.3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F27AD1-E57C-9B04-B8D7-8D59FFBEAD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12"/>
          <a:stretch>
            <a:fillRect/>
          </a:stretch>
        </p:blipFill>
        <p:spPr>
          <a:xfrm>
            <a:off x="2141913" y="1576387"/>
            <a:ext cx="10956174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6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FD0F8-14CB-E0D1-E45A-FC0E759F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전체 시스템 구성도">
            <a:extLst>
              <a:ext uri="{FF2B5EF4-FFF2-40B4-BE49-F238E27FC236}">
                <a16:creationId xmlns:a16="http://schemas.microsoft.com/office/drawing/2014/main" id="{DFDD323E-E796-6275-41A2-62FFBCE96C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3300" b="1" dirty="0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사용자 플로우</a:t>
            </a:r>
            <a:r>
              <a:rPr lang="en-US" altLang="ko-KR" sz="3300" b="1" dirty="0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(User Flow)</a:t>
            </a:r>
            <a:endParaRPr sz="3300" b="1" dirty="0">
              <a:solidFill>
                <a:srgbClr val="102A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FR-01~24, NFR-02, NFR-05, NFR-09  ·  통합 설계안 v0.3">
            <a:extLst>
              <a:ext uri="{FF2B5EF4-FFF2-40B4-BE49-F238E27FC236}">
                <a16:creationId xmlns:a16="http://schemas.microsoft.com/office/drawing/2014/main" id="{B11BFC88-6C5C-D933-4470-FEA61592035D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FR-01~24, NFR-02, NFR-05, NFR-09  ·  통합 설계안 v0.3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5DD724-45F8-3351-A5E0-7328274FE8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44"/>
          <a:stretch>
            <a:fillRect/>
          </a:stretch>
        </p:blipFill>
        <p:spPr>
          <a:xfrm>
            <a:off x="1998345" y="1393103"/>
            <a:ext cx="11243310" cy="6712672"/>
          </a:xfrm>
          <a:prstGeom prst="rect">
            <a:avLst/>
          </a:prstGeom>
        </p:spPr>
      </p:pic>
      <p:sp>
        <p:nvSpPr>
          <p:cNvPr id="11" name="중앙에서 작업을 관리하고 OS Agent가 대상 서버에서 점검·조치를 실행">
            <a:extLst>
              <a:ext uri="{FF2B5EF4-FFF2-40B4-BE49-F238E27FC236}">
                <a16:creationId xmlns:a16="http://schemas.microsoft.com/office/drawing/2014/main" id="{2116D7C3-72CF-5A4D-0698-3E6E508661C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1725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 등록부터 점검</a:t>
            </a:r>
            <a:r>
              <a:rPr lang="en-US" altLang="ko-KR" sz="1725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lang="ko-KR" altLang="en-US" sz="1725" dirty="0" err="1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하드닝</a:t>
            </a:r>
            <a:r>
              <a:rPr lang="en-US" altLang="ko-KR" sz="1725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lang="ko-KR" altLang="en-US" sz="1725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재점검</a:t>
            </a:r>
            <a:r>
              <a:rPr lang="en-US" altLang="ko-KR" sz="1725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lang="ko-KR" altLang="en-US" sz="1725" dirty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결과 조회까지의 전체 흐름</a:t>
            </a:r>
            <a:endParaRPr sz="1725" b="0" dirty="0">
              <a:solidFill>
                <a:srgbClr val="5E7282"/>
              </a:solidFill>
              <a:latin typeface="Noto Sans CJK KR"/>
              <a:ea typeface="Noto Sans CJK KR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79381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gent 등록과 인증 흐름">
            <a:extLst>
              <a:ext uri="{FF2B5EF4-FFF2-40B4-BE49-F238E27FC236}">
                <a16:creationId xmlns:a16="http://schemas.microsoft.com/office/drawing/2014/main" id="{C34DD6AD-1E9A-4D87-BB09-17CF8984775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Agent 등록과 인증 흐름</a:t>
            </a:r>
          </a:p>
        </p:txBody>
      </p:sp>
      <p:sp>
        <p:nvSpPr>
          <p:cNvPr id="2" name="1회용 등록 토큰과 Agent별 운영 토큰을 분리하는 설계안">
            <a:extLst>
              <a:ext uri="{FF2B5EF4-FFF2-40B4-BE49-F238E27FC236}">
                <a16:creationId xmlns:a16="http://schemas.microsoft.com/office/drawing/2014/main" id="{11CE878F-BA23-4C21-BBA4-5E969815889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1회용 등록 토큰과 Agent별 운영 토큰을 분리하는 설계안</a:t>
            </a:r>
          </a:p>
        </p:txBody>
      </p:sp>
      <p:sp>
        <p:nvSpPr>
          <p:cNvPr id="3" name="FR-01~03, NFR-02, NFR-10  ·  통합 설계안 v0.3">
            <a:extLst>
              <a:ext uri="{FF2B5EF4-FFF2-40B4-BE49-F238E27FC236}">
                <a16:creationId xmlns:a16="http://schemas.microsoft.com/office/drawing/2014/main" id="{B74671F6-840E-4120-9817-DE237448360B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FR-01~03, NFR-02, NFR-10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599AA3-B521-4CC7-B0DB-4A9A6130321C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2343150" cy="628650"/>
          </a:xfrm>
          <a:prstGeom prst="rect">
            <a:avLst/>
          </a:prstGeom>
          <a:solidFill>
            <a:srgbClr val="EAF3F6"/>
          </a:solidFill>
          <a:ln w="11430">
            <a:solidFill>
              <a:srgbClr val="CFDBE3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9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016254-3AFD-4106-8BA7-A6F5CDC1116A}"/>
              </a:ext>
            </a:extLst>
          </p:cNvPr>
          <p:cNvSpPr>
            <a:spLocks noGrp="1"/>
          </p:cNvSpPr>
          <p:nvPr/>
        </p:nvSpPr>
        <p:spPr>
          <a:xfrm>
            <a:off x="3857625" y="1743075"/>
            <a:ext cx="3305175" cy="628650"/>
          </a:xfrm>
          <a:prstGeom prst="rect">
            <a:avLst/>
          </a:prstGeom>
          <a:solidFill>
            <a:srgbClr val="EAF3F6"/>
          </a:solidFill>
          <a:ln w="11430">
            <a:solidFill>
              <a:srgbClr val="CFDBE3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9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중앙 Controller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FBEADD-917F-4E9C-9057-ACF6F2532F2F}"/>
              </a:ext>
            </a:extLst>
          </p:cNvPr>
          <p:cNvSpPr>
            <a:spLocks noGrp="1"/>
          </p:cNvSpPr>
          <p:nvPr/>
        </p:nvSpPr>
        <p:spPr>
          <a:xfrm>
            <a:off x="9124950" y="1743075"/>
            <a:ext cx="4286250" cy="628650"/>
          </a:xfrm>
          <a:prstGeom prst="rect">
            <a:avLst/>
          </a:prstGeom>
          <a:solidFill>
            <a:srgbClr val="EAF3F6"/>
          </a:solidFill>
          <a:ln w="11430">
            <a:solidFill>
              <a:srgbClr val="CFDBE3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9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대상 서버 Agent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8F739CEA-D27A-4AD2-90A2-C0EC462ECC7A}"/>
              </a:ext>
            </a:extLst>
          </p:cNvPr>
          <p:cNvSpPr>
            <a:spLocks noGrp="1"/>
          </p:cNvSpPr>
          <p:nvPr/>
        </p:nvSpPr>
        <p:spPr>
          <a:xfrm>
            <a:off x="1895475" y="2457450"/>
            <a:ext cx="0" cy="4248150"/>
          </a:xfrm>
          <a:prstGeom prst="line">
            <a:avLst/>
          </a:prstGeom>
          <a:noFill/>
          <a:ln w="14288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8FA6E701-7C4C-4838-8EDC-6EDD2858022E}"/>
              </a:ext>
            </a:extLst>
          </p:cNvPr>
          <p:cNvSpPr>
            <a:spLocks noGrp="1"/>
          </p:cNvSpPr>
          <p:nvPr/>
        </p:nvSpPr>
        <p:spPr>
          <a:xfrm>
            <a:off x="5505450" y="2457450"/>
            <a:ext cx="0" cy="4248150"/>
          </a:xfrm>
          <a:prstGeom prst="line">
            <a:avLst/>
          </a:prstGeom>
          <a:noFill/>
          <a:ln w="14288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D4FFFA18-B325-456D-85C3-07BBFB2A6C51}"/>
              </a:ext>
            </a:extLst>
          </p:cNvPr>
          <p:cNvSpPr>
            <a:spLocks noGrp="1"/>
          </p:cNvSpPr>
          <p:nvPr/>
        </p:nvSpPr>
        <p:spPr>
          <a:xfrm>
            <a:off x="11268075" y="2457450"/>
            <a:ext cx="0" cy="4248150"/>
          </a:xfrm>
          <a:prstGeom prst="line">
            <a:avLst/>
          </a:prstGeom>
          <a:noFill/>
          <a:ln w="14288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0C26568-3579-4E82-B1C3-127C2D483DDA}"/>
              </a:ext>
            </a:extLst>
          </p:cNvPr>
          <p:cNvSpPr>
            <a:spLocks noGrp="1"/>
          </p:cNvSpPr>
          <p:nvPr/>
        </p:nvSpPr>
        <p:spPr>
          <a:xfrm>
            <a:off x="1895475" y="3162300"/>
            <a:ext cx="3609975" cy="0"/>
          </a:xfrm>
          <a:prstGeom prst="line">
            <a:avLst/>
          </a:prstGeom>
          <a:noFill/>
          <a:ln w="1905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▶">
            <a:extLst>
              <a:ext uri="{FF2B5EF4-FFF2-40B4-BE49-F238E27FC236}">
                <a16:creationId xmlns:a16="http://schemas.microsoft.com/office/drawing/2014/main" id="{57F8C61A-358C-49DA-9C10-74BA35ECD707}"/>
              </a:ext>
            </a:extLst>
          </p:cNvPr>
          <p:cNvSpPr>
            <a:spLocks noGrp="1"/>
          </p:cNvSpPr>
          <p:nvPr/>
        </p:nvSpPr>
        <p:spPr>
          <a:xfrm>
            <a:off x="5410200" y="30575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▶</a:t>
            </a:r>
          </a:p>
        </p:txBody>
      </p:sp>
      <p:sp>
        <p:nvSpPr>
          <p:cNvPr id="13" name="1  서버 생성·등록 토큰 발급">
            <a:extLst>
              <a:ext uri="{FF2B5EF4-FFF2-40B4-BE49-F238E27FC236}">
                <a16:creationId xmlns:a16="http://schemas.microsoft.com/office/drawing/2014/main" id="{20CF9EDC-FA50-4CC7-B3EB-62482D4ED260}"/>
              </a:ext>
            </a:extLst>
          </p:cNvPr>
          <p:cNvSpPr>
            <a:spLocks noGrp="1"/>
          </p:cNvSpPr>
          <p:nvPr/>
        </p:nvSpPr>
        <p:spPr>
          <a:xfrm>
            <a:off x="2085975" y="2657475"/>
            <a:ext cx="3276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1  서버 생성·등록 토큰 발급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CACB5AC5-EE81-4522-B051-4E16B954D886}"/>
              </a:ext>
            </a:extLst>
          </p:cNvPr>
          <p:cNvSpPr>
            <a:spLocks noGrp="1"/>
          </p:cNvSpPr>
          <p:nvPr/>
        </p:nvSpPr>
        <p:spPr>
          <a:xfrm>
            <a:off x="5505450" y="4162425"/>
            <a:ext cx="5762625" cy="0"/>
          </a:xfrm>
          <a:prstGeom prst="line">
            <a:avLst/>
          </a:prstGeom>
          <a:noFill/>
          <a:ln w="1905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◀">
            <a:extLst>
              <a:ext uri="{FF2B5EF4-FFF2-40B4-BE49-F238E27FC236}">
                <a16:creationId xmlns:a16="http://schemas.microsoft.com/office/drawing/2014/main" id="{40D3B3DC-636B-41D7-A645-1EB6C44ECE7C}"/>
              </a:ext>
            </a:extLst>
          </p:cNvPr>
          <p:cNvSpPr>
            <a:spLocks noGrp="1"/>
          </p:cNvSpPr>
          <p:nvPr/>
        </p:nvSpPr>
        <p:spPr>
          <a:xfrm>
            <a:off x="5410200" y="4057650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◀</a:t>
            </a:r>
          </a:p>
        </p:txBody>
      </p:sp>
      <p:sp>
        <p:nvSpPr>
          <p:cNvPr id="16" name="2  TLS 서버 검증 + 등록 요청">
            <a:extLst>
              <a:ext uri="{FF2B5EF4-FFF2-40B4-BE49-F238E27FC236}">
                <a16:creationId xmlns:a16="http://schemas.microsoft.com/office/drawing/2014/main" id="{327C0CC0-F443-4962-861A-6F53E9AAF0C5}"/>
              </a:ext>
            </a:extLst>
          </p:cNvPr>
          <p:cNvSpPr>
            <a:spLocks noGrp="1"/>
          </p:cNvSpPr>
          <p:nvPr/>
        </p:nvSpPr>
        <p:spPr>
          <a:xfrm>
            <a:off x="5695950" y="3657600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2  TLS 서버 검증 + 등록 요청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2D2083D6-629D-456A-9337-F477C5CFA3D6}"/>
              </a:ext>
            </a:extLst>
          </p:cNvPr>
          <p:cNvSpPr>
            <a:spLocks noGrp="1"/>
          </p:cNvSpPr>
          <p:nvPr/>
        </p:nvSpPr>
        <p:spPr>
          <a:xfrm>
            <a:off x="5505450" y="5162550"/>
            <a:ext cx="5762625" cy="0"/>
          </a:xfrm>
          <a:prstGeom prst="line">
            <a:avLst/>
          </a:prstGeom>
          <a:noFill/>
          <a:ln w="1905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▶">
            <a:extLst>
              <a:ext uri="{FF2B5EF4-FFF2-40B4-BE49-F238E27FC236}">
                <a16:creationId xmlns:a16="http://schemas.microsoft.com/office/drawing/2014/main" id="{259D7FA7-B25B-4950-826D-84C4F103CADC}"/>
              </a:ext>
            </a:extLst>
          </p:cNvPr>
          <p:cNvSpPr>
            <a:spLocks noGrp="1"/>
          </p:cNvSpPr>
          <p:nvPr/>
        </p:nvSpPr>
        <p:spPr>
          <a:xfrm>
            <a:off x="11172825" y="505777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▶</a:t>
            </a:r>
          </a:p>
        </p:txBody>
      </p:sp>
      <p:sp>
        <p:nvSpPr>
          <p:cNvPr id="19" name="3  Agent ID + 운영 토큰 1회 전달">
            <a:extLst>
              <a:ext uri="{FF2B5EF4-FFF2-40B4-BE49-F238E27FC236}">
                <a16:creationId xmlns:a16="http://schemas.microsoft.com/office/drawing/2014/main" id="{FE3F772F-F7BA-46B1-8599-EFC11674211C}"/>
              </a:ext>
            </a:extLst>
          </p:cNvPr>
          <p:cNvSpPr>
            <a:spLocks noGrp="1"/>
          </p:cNvSpPr>
          <p:nvPr/>
        </p:nvSpPr>
        <p:spPr>
          <a:xfrm>
            <a:off x="5695950" y="4657725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3  Agent ID + 운영 토큰 1회 전달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B3BD676A-3869-4D0D-9D57-8F05D893BE66}"/>
              </a:ext>
            </a:extLst>
          </p:cNvPr>
          <p:cNvSpPr>
            <a:spLocks noGrp="1"/>
          </p:cNvSpPr>
          <p:nvPr/>
        </p:nvSpPr>
        <p:spPr>
          <a:xfrm>
            <a:off x="5505450" y="6181725"/>
            <a:ext cx="5762625" cy="0"/>
          </a:xfrm>
          <a:prstGeom prst="line">
            <a:avLst/>
          </a:prstGeom>
          <a:noFill/>
          <a:ln w="1905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◀">
            <a:extLst>
              <a:ext uri="{FF2B5EF4-FFF2-40B4-BE49-F238E27FC236}">
                <a16:creationId xmlns:a16="http://schemas.microsoft.com/office/drawing/2014/main" id="{31519B68-EEFF-4BAA-8B11-A7A934507C67}"/>
              </a:ext>
            </a:extLst>
          </p:cNvPr>
          <p:cNvSpPr>
            <a:spLocks noGrp="1"/>
          </p:cNvSpPr>
          <p:nvPr/>
        </p:nvSpPr>
        <p:spPr>
          <a:xfrm>
            <a:off x="5410200" y="6076950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◀</a:t>
            </a:r>
          </a:p>
        </p:txBody>
      </p:sp>
      <p:sp>
        <p:nvSpPr>
          <p:cNvPr id="22" name="4  Heartbeat + OS·역할 정보 전송">
            <a:extLst>
              <a:ext uri="{FF2B5EF4-FFF2-40B4-BE49-F238E27FC236}">
                <a16:creationId xmlns:a16="http://schemas.microsoft.com/office/drawing/2014/main" id="{EA3F068C-D593-40A3-B522-AA29C75C5744}"/>
              </a:ext>
            </a:extLst>
          </p:cNvPr>
          <p:cNvSpPr>
            <a:spLocks noGrp="1"/>
          </p:cNvSpPr>
          <p:nvPr/>
        </p:nvSpPr>
        <p:spPr>
          <a:xfrm>
            <a:off x="5695950" y="5676900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4  Heartbeat + OS·역할 정보 전송</a:t>
            </a:r>
          </a:p>
        </p:txBody>
      </p:sp>
      <p:sp>
        <p:nvSpPr>
          <p:cNvPr id="23" name="관리자가 토큰을 설치 시 안전하게 전달">
            <a:extLst>
              <a:ext uri="{FF2B5EF4-FFF2-40B4-BE49-F238E27FC236}">
                <a16:creationId xmlns:a16="http://schemas.microsoft.com/office/drawing/2014/main" id="{0FB82A16-8863-46C5-89C4-21DC69488B36}"/>
              </a:ext>
            </a:extLst>
          </p:cNvPr>
          <p:cNvSpPr>
            <a:spLocks noGrp="1"/>
          </p:cNvSpPr>
          <p:nvPr/>
        </p:nvSpPr>
        <p:spPr>
          <a:xfrm>
            <a:off x="685800" y="7105650"/>
            <a:ext cx="4953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관리자가 토큰을 설치 시 안전하게 전달</a:t>
            </a:r>
          </a:p>
        </p:txBody>
      </p:sp>
      <p:sp>
        <p:nvSpPr>
          <p:cNvPr id="24" name="등록 토큰: 10분·1회 사용 제안&#10;서버: 토큰 digest만 저장">
            <a:extLst>
              <a:ext uri="{FF2B5EF4-FFF2-40B4-BE49-F238E27FC236}">
                <a16:creationId xmlns:a16="http://schemas.microsoft.com/office/drawing/2014/main" id="{F4A77B46-18A5-4312-8708-5D98ABF8AE69}"/>
              </a:ext>
            </a:extLst>
          </p:cNvPr>
          <p:cNvSpPr>
            <a:spLocks noGrp="1"/>
          </p:cNvSpPr>
          <p:nvPr/>
        </p:nvSpPr>
        <p:spPr>
          <a:xfrm>
            <a:off x="5819775" y="7096125"/>
            <a:ext cx="40576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등록 토큰: 10분·1회 사용 제안</a:t>
            </a:r>
          </a:p>
          <a:p>
            <a:pPr algn="l">
              <a:def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서버: 토큰 digest만 저장</a:t>
            </a:r>
          </a:p>
        </p:txBody>
      </p:sp>
      <p:sp>
        <p:nvSpPr>
          <p:cNvPr id="25" name="Agent: OS 보안 저장소 사용&#10;갱신·폐기·분실 재등록 이력 기록">
            <a:extLst>
              <a:ext uri="{FF2B5EF4-FFF2-40B4-BE49-F238E27FC236}">
                <a16:creationId xmlns:a16="http://schemas.microsoft.com/office/drawing/2014/main" id="{E12AABFE-0D13-4B77-9D7C-FBCF728670A2}"/>
              </a:ext>
            </a:extLst>
          </p:cNvPr>
          <p:cNvSpPr>
            <a:spLocks noGrp="1"/>
          </p:cNvSpPr>
          <p:nvPr/>
        </p:nvSpPr>
        <p:spPr>
          <a:xfrm>
            <a:off x="10296525" y="7096125"/>
            <a:ext cx="4286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Agent: OS 보안 저장소 사용</a:t>
            </a:r>
          </a:p>
          <a:p>
            <a:pPr algn="l">
              <a:def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갱신·폐기·분실 재등록 이력 기록</a:t>
            </a:r>
          </a:p>
        </p:txBody>
      </p:sp>
    </p:spTree>
    <p:extLst>
      <p:ext uri="{BB962C8B-B14F-4D97-AF65-F5344CB8AC3E}">
        <p14:creationId xmlns:p14="http://schemas.microsoft.com/office/powerpoint/2010/main" val="123507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점검 요청과 결과 수집 순서">
            <a:extLst>
              <a:ext uri="{FF2B5EF4-FFF2-40B4-BE49-F238E27FC236}">
                <a16:creationId xmlns:a16="http://schemas.microsoft.com/office/drawing/2014/main" id="{4F09642A-4032-4FEA-B025-66FB1A02C45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점검 요청과 결과 수집 순서</a:t>
            </a:r>
          </a:p>
        </p:txBody>
      </p:sp>
      <p:sp>
        <p:nvSpPr>
          <p:cNvPr id="2" name="Agent가 작업을 가져오고, 중앙은 수신 결과로 진행률을 계산">
            <a:extLst>
              <a:ext uri="{FF2B5EF4-FFF2-40B4-BE49-F238E27FC236}">
                <a16:creationId xmlns:a16="http://schemas.microsoft.com/office/drawing/2014/main" id="{A424A3A8-D4B7-402B-B23C-4CF88C8E002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Agent가 작업을 가져오고, 중앙은 수신 결과로 진행률을 계산</a:t>
            </a:r>
          </a:p>
        </p:txBody>
      </p:sp>
      <p:sp>
        <p:nvSpPr>
          <p:cNvPr id="3" name="FR-04~10, FR-17, NFR-08  ·  통합 설계안 v0.3">
            <a:extLst>
              <a:ext uri="{FF2B5EF4-FFF2-40B4-BE49-F238E27FC236}">
                <a16:creationId xmlns:a16="http://schemas.microsoft.com/office/drawing/2014/main" id="{4F624947-4041-4C18-9234-0441388897B6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FR-04~10, FR-17, NFR-08  ·  통합 설계안 v0.3</a:t>
            </a:r>
          </a:p>
        </p:txBody>
      </p:sp>
      <p:graphicFrame>
        <p:nvGraphicFramePr>
          <p:cNvPr id="11" name="표 10"/>
          <p:cNvGraphicFramePr/>
          <p:nvPr/>
        </p:nvGraphicFramePr>
        <p:xfrm>
          <a:off x="609600" y="1809750"/>
          <a:ext cx="14020800" cy="5095874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982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순서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호출·처리 주체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주요 동작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생성·갱신 데이터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 / Web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OS·프로파일 확인 후 CHECK 작업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job_id, scan_run_id, 예정 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/ Controller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작업 claim, lease 확보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agent_id, attempt_id, lease_until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로컬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OS·역할에 따른 적용성 확인, 모듈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현재값, 상태, 판정 근거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/ Controller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항목별 결과와 증적 업로드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result_id, item_id, evidence_id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Controller /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검증 후 결과 저장·수신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서버·작업·코드 연결 이력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 / Web API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작업 상태와 결과 목록 갱신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자동 단계 종료율 / 판정·대기 수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HECK는 읽기 전용으로 구성하며, 점검 과정에서 설정값을 변경하지 않습니다.">
            <a:extLst>
              <a:ext uri="{FF2B5EF4-FFF2-40B4-BE49-F238E27FC236}">
                <a16:creationId xmlns:a16="http://schemas.microsoft.com/office/drawing/2014/main" id="{293FE71C-4627-4A40-9F6F-ADD01453D60A}"/>
              </a:ext>
            </a:extLst>
          </p:cNvPr>
          <p:cNvSpPr>
            <a:spLocks noGrp="1"/>
          </p:cNvSpPr>
          <p:nvPr/>
        </p:nvSpPr>
        <p:spPr>
          <a:xfrm>
            <a:off x="685800" y="7239000"/>
            <a:ext cx="13639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CHECK는 읽기 전용으로 구성하며, 점검 과정에서 설정값을 변경하지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4952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화면 목록과 탐색 구조">
            <a:extLst>
              <a:ext uri="{FF2B5EF4-FFF2-40B4-BE49-F238E27FC236}">
                <a16:creationId xmlns:a16="http://schemas.microsoft.com/office/drawing/2014/main" id="{C2AAB40B-9C5A-426F-9213-139C1B16CEC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화면 목록과 탐색 구조</a:t>
            </a:r>
          </a:p>
        </p:txBody>
      </p:sp>
      <p:sp>
        <p:nvSpPr>
          <p:cNvPr id="2" name="UI-00~15 · 월별 비교와 사용자·승인 정책 관리 추가">
            <a:extLst>
              <a:ext uri="{FF2B5EF4-FFF2-40B4-BE49-F238E27FC236}">
                <a16:creationId xmlns:a16="http://schemas.microsoft.com/office/drawing/2014/main" id="{D7C1E189-1A0D-49D3-811E-6F608E46F45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UI-00~15 · 월별 비교와 사용자·승인 정책 관리 추가</a:t>
            </a:r>
          </a:p>
        </p:txBody>
      </p:sp>
      <p:sp>
        <p:nvSpPr>
          <p:cNvPr id="3" name="FR-01~24  ·  통합 설계안 v0.3">
            <a:extLst>
              <a:ext uri="{FF2B5EF4-FFF2-40B4-BE49-F238E27FC236}">
                <a16:creationId xmlns:a16="http://schemas.microsoft.com/office/drawing/2014/main" id="{3B7F0E5E-52A8-4086-9617-3BD0A38F25FC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FR-01~24  ·  통합 설계안 v0.3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09600" y="1790700"/>
          <a:ext cx="14020800" cy="5905504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주요 연결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UI-00 / 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로그인 /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세션·서버 권한 → 최신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UI-02 / 03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등록 / Agent 상세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고정 서버 ID → 등록·버전·연결 이력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UI-04 / 05 / 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실행 / 결과 / 취약점 상세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전체·부분 회차 → 증적·판정·AI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UI-07 / 08 / 09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/ 수동 확인 / 조치 전후 비교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근거 → 백업·재점검·롤백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UI-10 / 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보고서 / 항목·프로파일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현황·회차·판정 참조 / 기준 버전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UI-12 / 13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월별 비교 / 월별 항목 상세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두 월·대표 회차 → 전환·제외·재발 이력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UI-14 /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 가능 관계 / 사용자·승인 정책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호환성 등록 / RBAC·사전 승인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0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UI-00  로그인과 권한">
            <a:extLst>
              <a:ext uri="{FF2B5EF4-FFF2-40B4-BE49-F238E27FC236}">
                <a16:creationId xmlns:a16="http://schemas.microsoft.com/office/drawing/2014/main" id="{516D8E63-4957-4D3D-B5FF-967FA3292EC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UI-00  로그인과 권한</a:t>
            </a:r>
          </a:p>
        </p:txBody>
      </p:sp>
      <p:sp>
        <p:nvSpPr>
          <p:cNvPr id="2" name="FR-24에 따라 로그인·로그아웃과 서버별 권한을 검증">
            <a:extLst>
              <a:ext uri="{FF2B5EF4-FFF2-40B4-BE49-F238E27FC236}">
                <a16:creationId xmlns:a16="http://schemas.microsoft.com/office/drawing/2014/main" id="{6CBE057E-2816-4E69-B9A3-E2651FC47E4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FR-24에 따라 로그인·로그아웃과 서버별 권한을 검증</a:t>
            </a:r>
          </a:p>
        </p:txBody>
      </p:sp>
      <p:sp>
        <p:nvSpPr>
          <p:cNvPr id="3" name="FR-24, NFR-01, NFR-02, NFR-06  ·  통합 설계안 v0.3">
            <a:extLst>
              <a:ext uri="{FF2B5EF4-FFF2-40B4-BE49-F238E27FC236}">
                <a16:creationId xmlns:a16="http://schemas.microsoft.com/office/drawing/2014/main" id="{797FE90E-6AC0-48BC-87B3-B3CB0CECC11A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FR-24, NFR-01, NFR-02, NFR-06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07050E-005D-4B75-A697-1B8AAACFFD94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바다돌맹이">
            <a:extLst>
              <a:ext uri="{FF2B5EF4-FFF2-40B4-BE49-F238E27FC236}">
                <a16:creationId xmlns:a16="http://schemas.microsoft.com/office/drawing/2014/main" id="{3622F90A-7839-4D29-8781-C573B83C04E1}"/>
              </a:ext>
            </a:extLst>
          </p:cNvPr>
          <p:cNvSpPr>
            <a:spLocks noGrp="1"/>
          </p:cNvSpPr>
          <p:nvPr/>
        </p:nvSpPr>
        <p:spPr>
          <a:xfrm>
            <a:off x="1323975" y="2381250"/>
            <a:ext cx="83915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바다돌맹이</a:t>
            </a:r>
          </a:p>
        </p:txBody>
      </p:sp>
      <p:sp>
        <p:nvSpPr>
          <p:cNvPr id="7" name="OS 보안 관리 로그인">
            <a:extLst>
              <a:ext uri="{FF2B5EF4-FFF2-40B4-BE49-F238E27FC236}">
                <a16:creationId xmlns:a16="http://schemas.microsoft.com/office/drawing/2014/main" id="{DD96981A-6164-4A80-8BF7-C4947AFEC294}"/>
              </a:ext>
            </a:extLst>
          </p:cNvPr>
          <p:cNvSpPr>
            <a:spLocks noGrp="1"/>
          </p:cNvSpPr>
          <p:nvPr/>
        </p:nvSpPr>
        <p:spPr>
          <a:xfrm>
            <a:off x="1323975" y="3048000"/>
            <a:ext cx="84296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OS 보안 관리 로그인</a:t>
            </a:r>
          </a:p>
        </p:txBody>
      </p:sp>
      <p:sp>
        <p:nvSpPr>
          <p:cNvPr id="8" name="사용자 ID">
            <a:extLst>
              <a:ext uri="{FF2B5EF4-FFF2-40B4-BE49-F238E27FC236}">
                <a16:creationId xmlns:a16="http://schemas.microsoft.com/office/drawing/2014/main" id="{A68CBE68-5CC9-4428-9ED0-3758D8348C76}"/>
              </a:ext>
            </a:extLst>
          </p:cNvPr>
          <p:cNvSpPr>
            <a:spLocks noGrp="1"/>
          </p:cNvSpPr>
          <p:nvPr/>
        </p:nvSpPr>
        <p:spPr>
          <a:xfrm>
            <a:off x="1333500" y="3810000"/>
            <a:ext cx="6429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사용자 ID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9737F2-B691-4AF9-9A0C-9FEC28E7F3CC}"/>
              </a:ext>
            </a:extLst>
          </p:cNvPr>
          <p:cNvSpPr>
            <a:spLocks noGrp="1"/>
          </p:cNvSpPr>
          <p:nvPr/>
        </p:nvSpPr>
        <p:spPr>
          <a:xfrm>
            <a:off x="1333500" y="4124325"/>
            <a:ext cx="6429375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아이디 입력">
            <a:extLst>
              <a:ext uri="{FF2B5EF4-FFF2-40B4-BE49-F238E27FC236}">
                <a16:creationId xmlns:a16="http://schemas.microsoft.com/office/drawing/2014/main" id="{FF0D8A3E-EED6-4017-94DF-A4FDC8904743}"/>
              </a:ext>
            </a:extLst>
          </p:cNvPr>
          <p:cNvSpPr>
            <a:spLocks noGrp="1"/>
          </p:cNvSpPr>
          <p:nvPr/>
        </p:nvSpPr>
        <p:spPr>
          <a:xfrm>
            <a:off x="1447800" y="4210050"/>
            <a:ext cx="62007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아이디 입력</a:t>
            </a:r>
          </a:p>
        </p:txBody>
      </p:sp>
      <p:sp>
        <p:nvSpPr>
          <p:cNvPr id="11" name="비밀번호">
            <a:extLst>
              <a:ext uri="{FF2B5EF4-FFF2-40B4-BE49-F238E27FC236}">
                <a16:creationId xmlns:a16="http://schemas.microsoft.com/office/drawing/2014/main" id="{EBD91A52-2D05-420A-9692-1406F9B1FB95}"/>
              </a:ext>
            </a:extLst>
          </p:cNvPr>
          <p:cNvSpPr>
            <a:spLocks noGrp="1"/>
          </p:cNvSpPr>
          <p:nvPr/>
        </p:nvSpPr>
        <p:spPr>
          <a:xfrm>
            <a:off x="1333500" y="4800600"/>
            <a:ext cx="6429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비밀번호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177756-18FA-442B-B15B-51DD59A24D2F}"/>
              </a:ext>
            </a:extLst>
          </p:cNvPr>
          <p:cNvSpPr>
            <a:spLocks noGrp="1"/>
          </p:cNvSpPr>
          <p:nvPr/>
        </p:nvSpPr>
        <p:spPr>
          <a:xfrm>
            <a:off x="1333500" y="5114925"/>
            <a:ext cx="6429375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암호 입력">
            <a:extLst>
              <a:ext uri="{FF2B5EF4-FFF2-40B4-BE49-F238E27FC236}">
                <a16:creationId xmlns:a16="http://schemas.microsoft.com/office/drawing/2014/main" id="{95BBEC4E-E1A2-4DE1-ADC1-FBA6000E9C7C}"/>
              </a:ext>
            </a:extLst>
          </p:cNvPr>
          <p:cNvSpPr>
            <a:spLocks noGrp="1"/>
          </p:cNvSpPr>
          <p:nvPr/>
        </p:nvSpPr>
        <p:spPr>
          <a:xfrm>
            <a:off x="1447800" y="5200650"/>
            <a:ext cx="62007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암호 입력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AA40DD-6F7D-4DCC-81BE-69386882713F}"/>
              </a:ext>
            </a:extLst>
          </p:cNvPr>
          <p:cNvSpPr>
            <a:spLocks noGrp="1"/>
          </p:cNvSpPr>
          <p:nvPr/>
        </p:nvSpPr>
        <p:spPr>
          <a:xfrm>
            <a:off x="1333500" y="5895975"/>
            <a:ext cx="6429375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로그인">
            <a:extLst>
              <a:ext uri="{FF2B5EF4-FFF2-40B4-BE49-F238E27FC236}">
                <a16:creationId xmlns:a16="http://schemas.microsoft.com/office/drawing/2014/main" id="{31B43D5C-B0FB-49AA-BF11-0B47A86CAE15}"/>
              </a:ext>
            </a:extLst>
          </p:cNvPr>
          <p:cNvSpPr>
            <a:spLocks noGrp="1"/>
          </p:cNvSpPr>
          <p:nvPr/>
        </p:nvSpPr>
        <p:spPr>
          <a:xfrm>
            <a:off x="1409700" y="5962650"/>
            <a:ext cx="6276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로그인</a:t>
            </a:r>
          </a:p>
        </p:txBody>
      </p:sp>
      <p:sp>
        <p:nvSpPr>
          <p:cNvPr id="16" name="로그인 실패 시 계정 존재 여부를 구분하지 않는 안내">
            <a:extLst>
              <a:ext uri="{FF2B5EF4-FFF2-40B4-BE49-F238E27FC236}">
                <a16:creationId xmlns:a16="http://schemas.microsoft.com/office/drawing/2014/main" id="{54B6BCD2-247E-4DE2-A5ED-9DC3C8C38393}"/>
              </a:ext>
            </a:extLst>
          </p:cNvPr>
          <p:cNvSpPr>
            <a:spLocks noGrp="1"/>
          </p:cNvSpPr>
          <p:nvPr/>
        </p:nvSpPr>
        <p:spPr>
          <a:xfrm>
            <a:off x="1333500" y="6781800"/>
            <a:ext cx="75533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로그인 실패 시 계정 존재 여부를 구분하지 않는 안내</a:t>
            </a:r>
          </a:p>
        </p:txBody>
      </p:sp>
      <p:sp>
        <p:nvSpPr>
          <p:cNvPr id="17" name="입력 규칙">
            <a:extLst>
              <a:ext uri="{FF2B5EF4-FFF2-40B4-BE49-F238E27FC236}">
                <a16:creationId xmlns:a16="http://schemas.microsoft.com/office/drawing/2014/main" id="{E14C661D-08F0-46BF-9E33-3559F6D08CEB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입력 규칙</a:t>
            </a:r>
          </a:p>
        </p:txBody>
      </p:sp>
      <p:sp>
        <p:nvSpPr>
          <p:cNvPr id="18" name="ID·비밀번호 필수. 인증 실패 횟수 제한과 세션 만료를 적용합니다.">
            <a:extLst>
              <a:ext uri="{FF2B5EF4-FFF2-40B4-BE49-F238E27FC236}">
                <a16:creationId xmlns:a16="http://schemas.microsoft.com/office/drawing/2014/main" id="{DE7D4977-BF67-453D-AF88-DA6DEFBC34DD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ID·비밀번호 필수. 인증 실패 횟수 제한과 세션 만료를 적용합니다.</a:t>
            </a:r>
          </a:p>
        </p:txBody>
      </p:sp>
      <p:sp>
        <p:nvSpPr>
          <p:cNvPr id="19" name="권한 제안">
            <a:extLst>
              <a:ext uri="{FF2B5EF4-FFF2-40B4-BE49-F238E27FC236}">
                <a16:creationId xmlns:a16="http://schemas.microsoft.com/office/drawing/2014/main" id="{6E94BC0B-E16A-422E-818C-7C10725B7011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권한 제안</a:t>
            </a:r>
          </a:p>
        </p:txBody>
      </p:sp>
      <p:sp>
        <p:nvSpPr>
          <p:cNvPr id="20" name="조회자: 결과 조회&#10;운영자: 점검·조치 요청&#10;승인자: 고위험 변경 승인">
            <a:extLst>
              <a:ext uri="{FF2B5EF4-FFF2-40B4-BE49-F238E27FC236}">
                <a16:creationId xmlns:a16="http://schemas.microsoft.com/office/drawing/2014/main" id="{87C12F05-81F8-4EE4-8765-23D57284D54C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조회자: 결과 조회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운영자: 점검·조치 요청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승인자: 고위험 변경 승인</a:t>
            </a:r>
          </a:p>
        </p:txBody>
      </p:sp>
      <p:sp>
        <p:nvSpPr>
          <p:cNvPr id="21" name="관리자 역할">
            <a:extLst>
              <a:ext uri="{FF2B5EF4-FFF2-40B4-BE49-F238E27FC236}">
                <a16:creationId xmlns:a16="http://schemas.microsoft.com/office/drawing/2014/main" id="{7CABEC31-BCE1-4E32-B128-6ABA6A4D7853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관리자 역할</a:t>
            </a:r>
          </a:p>
        </p:txBody>
      </p:sp>
      <p:sp>
        <p:nvSpPr>
          <p:cNvPr id="22" name="서버·Agent 등록, 자격증명 폐기, 기준 프로파일을 관리합니다.">
            <a:extLst>
              <a:ext uri="{FF2B5EF4-FFF2-40B4-BE49-F238E27FC236}">
                <a16:creationId xmlns:a16="http://schemas.microsoft.com/office/drawing/2014/main" id="{E40C982F-68E9-4824-A7CF-BCD580264175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서버·Agent 등록, 자격증명 폐기, 기준 프로파일을 관리합니다.</a:t>
            </a:r>
          </a:p>
        </p:txBody>
      </p:sp>
      <p:sp>
        <p:nvSpPr>
          <p:cNvPr id="23" name="API 연결">
            <a:extLst>
              <a:ext uri="{FF2B5EF4-FFF2-40B4-BE49-F238E27FC236}">
                <a16:creationId xmlns:a16="http://schemas.microsoft.com/office/drawing/2014/main" id="{0C7F8E40-BF04-4730-B2D9-CBF5DC608BE0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24" name="POST /api/v2/auth/sessions&#10;DELETE /api/v2/auth/ses">
            <a:extLst>
              <a:ext uri="{FF2B5EF4-FFF2-40B4-BE49-F238E27FC236}">
                <a16:creationId xmlns:a16="http://schemas.microsoft.com/office/drawing/2014/main" id="{9DABD92F-64E7-4864-B7F1-87585A224E79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/api/v2/auth/sessions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DELETE /api/v2/auth/sessions/current</a:t>
            </a:r>
          </a:p>
        </p:txBody>
      </p:sp>
    </p:spTree>
    <p:extLst>
      <p:ext uri="{BB962C8B-B14F-4D97-AF65-F5344CB8AC3E}">
        <p14:creationId xmlns:p14="http://schemas.microsoft.com/office/powerpoint/2010/main" val="1125310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UI-01  대시보드">
            <a:extLst>
              <a:ext uri="{FF2B5EF4-FFF2-40B4-BE49-F238E27FC236}">
                <a16:creationId xmlns:a16="http://schemas.microsoft.com/office/drawing/2014/main" id="{1DFDC9BD-4573-46C1-8B43-C7A23956D03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UI-01  대시보드</a:t>
            </a:r>
          </a:p>
        </p:txBody>
      </p:sp>
      <p:sp>
        <p:nvSpPr>
          <p:cNvPr id="2" name="시연 데이터 예시 · 서버 상태와 미처리 항목에서 상세 화면으로 이동">
            <a:extLst>
              <a:ext uri="{FF2B5EF4-FFF2-40B4-BE49-F238E27FC236}">
                <a16:creationId xmlns:a16="http://schemas.microsoft.com/office/drawing/2014/main" id="{8C8AC4B2-8189-45A3-9720-FC7EEA8D5F5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시연 데이터 예시 · 서버 상태와 미처리 항목에서 상세 화면으로 이동</a:t>
            </a:r>
          </a:p>
        </p:txBody>
      </p:sp>
      <p:sp>
        <p:nvSpPr>
          <p:cNvPr id="3" name="FR-02, FR-10, FR-17~19  ·  통합 설계안 v0.3">
            <a:extLst>
              <a:ext uri="{FF2B5EF4-FFF2-40B4-BE49-F238E27FC236}">
                <a16:creationId xmlns:a16="http://schemas.microsoft.com/office/drawing/2014/main" id="{6A70D1E4-F7C9-4D2A-B0A3-14C1C284AD14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FR-02, FR-10, FR-17~19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DD23B0-A97C-4A92-836A-B79BC330B8D9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DB404B-7BE0-4588-88E6-85B5400DACC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51FFA8EF-D7B8-4DA3-B061-18A1BE46B324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F4EA906B-B62A-482D-A394-40B9F9889E97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E5C20C-3BEB-4594-A361-8E71F3658A47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7CF1BB-ADE8-4130-8BB1-7FB77AFCB980}"/>
              </a:ext>
            </a:extLst>
          </p:cNvPr>
          <p:cNvSpPr>
            <a:spLocks noGrp="1"/>
          </p:cNvSpPr>
          <p:nvPr/>
        </p:nvSpPr>
        <p:spPr>
          <a:xfrm>
            <a:off x="695325" y="240982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대시보드">
            <a:extLst>
              <a:ext uri="{FF2B5EF4-FFF2-40B4-BE49-F238E27FC236}">
                <a16:creationId xmlns:a16="http://schemas.microsoft.com/office/drawing/2014/main" id="{CE5C232D-D6D5-4FEC-9D0D-B17DFF7C0452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2" name="서버·Agent">
            <a:extLst>
              <a:ext uri="{FF2B5EF4-FFF2-40B4-BE49-F238E27FC236}">
                <a16:creationId xmlns:a16="http://schemas.microsoft.com/office/drawing/2014/main" id="{AF2B0F66-79C9-4427-BFDC-D8F3CFE2EF4F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3" name="점검 실행">
            <a:extLst>
              <a:ext uri="{FF2B5EF4-FFF2-40B4-BE49-F238E27FC236}">
                <a16:creationId xmlns:a16="http://schemas.microsoft.com/office/drawing/2014/main" id="{0F23A153-7044-414B-B6E5-DD20A6B72D7C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4" name="점검 결과">
            <a:extLst>
              <a:ext uri="{FF2B5EF4-FFF2-40B4-BE49-F238E27FC236}">
                <a16:creationId xmlns:a16="http://schemas.microsoft.com/office/drawing/2014/main" id="{B7268341-2C5E-4371-8EEE-BB59E513FCBF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0B819F8F-A175-4A50-A3BE-7AED8A797DA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2967BF5E-6B85-44AA-8FA0-920E8C40CB6E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37EE240F-3FC4-4E04-99DD-E11B7B80A7FF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AE05537B-DADE-4711-9000-44C1A5554667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3B05BA72-7017-4ADE-9B4B-03DAF1CA32E0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전체 보안 현황">
            <a:extLst>
              <a:ext uri="{FF2B5EF4-FFF2-40B4-BE49-F238E27FC236}">
                <a16:creationId xmlns:a16="http://schemas.microsoft.com/office/drawing/2014/main" id="{293992D5-A186-49F9-9709-EAF62983A901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전체 보안 현황</a:t>
            </a:r>
          </a:p>
        </p:txBody>
      </p:sp>
      <p:sp>
        <p:nvSpPr>
          <p:cNvPr id="21" name="연결 Agent">
            <a:extLst>
              <a:ext uri="{FF2B5EF4-FFF2-40B4-BE49-F238E27FC236}">
                <a16:creationId xmlns:a16="http://schemas.microsoft.com/office/drawing/2014/main" id="{8479C97C-31E9-4B5E-A302-0C047A39D341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연결 Agent</a:t>
            </a:r>
          </a:p>
        </p:txBody>
      </p:sp>
      <p:sp>
        <p:nvSpPr>
          <p:cNvPr id="22" name="2 / 3">
            <a:extLst>
              <a:ext uri="{FF2B5EF4-FFF2-40B4-BE49-F238E27FC236}">
                <a16:creationId xmlns:a16="http://schemas.microsoft.com/office/drawing/2014/main" id="{15E918DA-0591-46B3-8D05-2F1966B159F9}"/>
              </a:ext>
            </a:extLst>
          </p:cNvPr>
          <p:cNvSpPr>
            <a:spLocks noGrp="1"/>
          </p:cNvSpPr>
          <p:nvPr/>
        </p:nvSpPr>
        <p:spPr>
          <a:xfrm>
            <a:off x="2314575" y="3409950"/>
            <a:ext cx="23336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2 / 3</a:t>
            </a:r>
          </a:p>
        </p:txBody>
      </p:sp>
      <p:sp>
        <p:nvSpPr>
          <p:cNvPr id="23" name="취약 항목">
            <a:extLst>
              <a:ext uri="{FF2B5EF4-FFF2-40B4-BE49-F238E27FC236}">
                <a16:creationId xmlns:a16="http://schemas.microsoft.com/office/drawing/2014/main" id="{1DFB4235-FA61-46BB-9DD4-C8D0490697BA}"/>
              </a:ext>
            </a:extLst>
          </p:cNvPr>
          <p:cNvSpPr>
            <a:spLocks noGrp="1"/>
          </p:cNvSpPr>
          <p:nvPr/>
        </p:nvSpPr>
        <p:spPr>
          <a:xfrm>
            <a:off x="5029200" y="305752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취약 항목</a:t>
            </a:r>
          </a:p>
        </p:txBody>
      </p:sp>
      <p:sp>
        <p:nvSpPr>
          <p:cNvPr id="24" name="18">
            <a:extLst>
              <a:ext uri="{FF2B5EF4-FFF2-40B4-BE49-F238E27FC236}">
                <a16:creationId xmlns:a16="http://schemas.microsoft.com/office/drawing/2014/main" id="{B43CC630-A577-422D-9EA0-3A580FDEFA7C}"/>
              </a:ext>
            </a:extLst>
          </p:cNvPr>
          <p:cNvSpPr>
            <a:spLocks noGrp="1"/>
          </p:cNvSpPr>
          <p:nvPr/>
        </p:nvSpPr>
        <p:spPr>
          <a:xfrm>
            <a:off x="5029200" y="3409950"/>
            <a:ext cx="23336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1">
                <a:solidFill>
                  <a:srgbClr val="B43A3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B43A3E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25" name="승인 대기">
            <a:extLst>
              <a:ext uri="{FF2B5EF4-FFF2-40B4-BE49-F238E27FC236}">
                <a16:creationId xmlns:a16="http://schemas.microsoft.com/office/drawing/2014/main" id="{A4B65B7A-730D-43B0-8FE4-A16FE4119B00}"/>
              </a:ext>
            </a:extLst>
          </p:cNvPr>
          <p:cNvSpPr>
            <a:spLocks noGrp="1"/>
          </p:cNvSpPr>
          <p:nvPr/>
        </p:nvSpPr>
        <p:spPr>
          <a:xfrm>
            <a:off x="7743825" y="305752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승인 대기</a:t>
            </a:r>
          </a:p>
        </p:txBody>
      </p:sp>
      <p:sp>
        <p:nvSpPr>
          <p:cNvPr id="26" name="2">
            <a:extLst>
              <a:ext uri="{FF2B5EF4-FFF2-40B4-BE49-F238E27FC236}">
                <a16:creationId xmlns:a16="http://schemas.microsoft.com/office/drawing/2014/main" id="{92E4506D-2D97-452F-86E4-B3E1E73F3E20}"/>
              </a:ext>
            </a:extLst>
          </p:cNvPr>
          <p:cNvSpPr>
            <a:spLocks noGrp="1"/>
          </p:cNvSpPr>
          <p:nvPr/>
        </p:nvSpPr>
        <p:spPr>
          <a:xfrm>
            <a:off x="7743825" y="3409950"/>
            <a:ext cx="23336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27" name="전체 관리 범위 131 코드 / 이 예시의 수집 완료 131">
            <a:extLst>
              <a:ext uri="{FF2B5EF4-FFF2-40B4-BE49-F238E27FC236}">
                <a16:creationId xmlns:a16="http://schemas.microsoft.com/office/drawing/2014/main" id="{A8E0D206-BE09-4AD7-894F-E6EE8C639EA1}"/>
              </a:ext>
            </a:extLst>
          </p:cNvPr>
          <p:cNvSpPr>
            <a:spLocks noGrp="1"/>
          </p:cNvSpPr>
          <p:nvPr/>
        </p:nvSpPr>
        <p:spPr>
          <a:xfrm>
            <a:off x="2314575" y="4210050"/>
            <a:ext cx="7867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전체 관리 범위 131 코드 / 이 예시의 수집 완료 131</a:t>
            </a:r>
          </a:p>
        </p:txBody>
      </p:sp>
      <p:graphicFrame>
        <p:nvGraphicFramePr>
          <p:cNvPr id="65" name="표 64"/>
          <p:cNvGraphicFramePr/>
          <p:nvPr/>
        </p:nvGraphicFramePr>
        <p:xfrm>
          <a:off x="2314575" y="4714875"/>
          <a:ext cx="7953375" cy="23622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연결 상태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최근 처리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바로가기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rocky-web-01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온라인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67 / 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win-app-01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온라인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64 / 64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 조회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ubuntu-test-01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미수행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원인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서버별 진행률과 고유 코드 관리 범위를 별도로 표시">
            <a:extLst>
              <a:ext uri="{FF2B5EF4-FFF2-40B4-BE49-F238E27FC236}">
                <a16:creationId xmlns:a16="http://schemas.microsoft.com/office/drawing/2014/main" id="{F7DC51A2-2B6D-4866-B1AA-DEC8E4E82EB0}"/>
              </a:ext>
            </a:extLst>
          </p:cNvPr>
          <p:cNvSpPr>
            <a:spLocks noGrp="1"/>
          </p:cNvSpPr>
          <p:nvPr/>
        </p:nvSpPr>
        <p:spPr>
          <a:xfrm>
            <a:off x="2314575" y="7324725"/>
            <a:ext cx="7953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서버별 진행률과 고유 코드 관리 범위를 별도로 표시</a:t>
            </a:r>
          </a:p>
        </p:txBody>
      </p:sp>
      <p:sp>
        <p:nvSpPr>
          <p:cNvPr id="30" name="연결 상태">
            <a:extLst>
              <a:ext uri="{FF2B5EF4-FFF2-40B4-BE49-F238E27FC236}">
                <a16:creationId xmlns:a16="http://schemas.microsoft.com/office/drawing/2014/main" id="{83EA2961-CE20-4878-BA94-2FDDA27C7631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연결 상태</a:t>
            </a:r>
          </a:p>
        </p:txBody>
      </p:sp>
      <p:sp>
        <p:nvSpPr>
          <p:cNvPr id="31" name="마지막 Heartbeat 수신시각 기준으로 계산하며 실패 원인을 상세로 연결합니다.">
            <a:extLst>
              <a:ext uri="{FF2B5EF4-FFF2-40B4-BE49-F238E27FC236}">
                <a16:creationId xmlns:a16="http://schemas.microsoft.com/office/drawing/2014/main" id="{3B3B25AD-91F1-44DC-B733-C021E8880427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마지막 Heartbeat 수신시각 기준으로 계산하며 실패 원인을 상세로 연결합니다.</a:t>
            </a:r>
          </a:p>
        </p:txBody>
      </p:sp>
      <p:sp>
        <p:nvSpPr>
          <p:cNvPr id="32" name="집계 기준">
            <a:extLst>
              <a:ext uri="{FF2B5EF4-FFF2-40B4-BE49-F238E27FC236}">
                <a16:creationId xmlns:a16="http://schemas.microsoft.com/office/drawing/2014/main" id="{FBBFF435-C3DC-4D30-8AD4-C292B4924CAE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집계 기준</a:t>
            </a:r>
          </a:p>
        </p:txBody>
      </p:sp>
      <p:sp>
        <p:nvSpPr>
          <p:cNvPr id="33" name="서버 수·취약 수는 필터 범위에 맞춰 집계합니다. 데이터 기준시각을 표시합니다.">
            <a:extLst>
              <a:ext uri="{FF2B5EF4-FFF2-40B4-BE49-F238E27FC236}">
                <a16:creationId xmlns:a16="http://schemas.microsoft.com/office/drawing/2014/main" id="{E2E3A63C-B8B6-44D9-A694-4B1EC59B3C24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서버 수·취약 수는 필터 범위에 맞춰 집계합니다. 데이터 기준시각을 표시합니다.</a:t>
            </a:r>
          </a:p>
        </p:txBody>
      </p:sp>
      <p:sp>
        <p:nvSpPr>
          <p:cNvPr id="34" name="131개 관리 범위">
            <a:extLst>
              <a:ext uri="{FF2B5EF4-FFF2-40B4-BE49-F238E27FC236}">
                <a16:creationId xmlns:a16="http://schemas.microsoft.com/office/drawing/2014/main" id="{E6558523-F740-4A61-BBFA-C5F4D63E19FC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131개 관리 범위</a:t>
            </a:r>
          </a:p>
        </p:txBody>
      </p:sp>
      <p:sp>
        <p:nvSpPr>
          <p:cNvPr id="35" name="작업 진행률은 서버별 예정 항목의 자동 단계 종료 수로 계산합니다.">
            <a:extLst>
              <a:ext uri="{FF2B5EF4-FFF2-40B4-BE49-F238E27FC236}">
                <a16:creationId xmlns:a16="http://schemas.microsoft.com/office/drawing/2014/main" id="{E8AA66F0-86EE-48E2-B4B6-5A1FFB8AC65D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작업 진행률은 서버별 예정 항목의 자동 단계 종료 수로 계산합니다.</a:t>
            </a:r>
          </a:p>
        </p:txBody>
      </p:sp>
      <p:sp>
        <p:nvSpPr>
          <p:cNvPr id="36" name="API 연결">
            <a:extLst>
              <a:ext uri="{FF2B5EF4-FFF2-40B4-BE49-F238E27FC236}">
                <a16:creationId xmlns:a16="http://schemas.microsoft.com/office/drawing/2014/main" id="{4ED917A8-6EA3-4F6F-9E69-56DA2D27DA5C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7" name="GET /api/v2/dashboard&#10;조회 필터: OS·서버 그룹·기간">
            <a:extLst>
              <a:ext uri="{FF2B5EF4-FFF2-40B4-BE49-F238E27FC236}">
                <a16:creationId xmlns:a16="http://schemas.microsoft.com/office/drawing/2014/main" id="{95C8E307-7D34-444D-8068-30DC6F839F98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/api/v2/dashboard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조회 필터: OS·서버 그룹·기간</a:t>
            </a:r>
          </a:p>
        </p:txBody>
      </p:sp>
    </p:spTree>
    <p:extLst>
      <p:ext uri="{BB962C8B-B14F-4D97-AF65-F5344CB8AC3E}">
        <p14:creationId xmlns:p14="http://schemas.microsoft.com/office/powerpoint/2010/main" val="40306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UI-02  서버·Agent 등록">
            <a:extLst>
              <a:ext uri="{FF2B5EF4-FFF2-40B4-BE49-F238E27FC236}">
                <a16:creationId xmlns:a16="http://schemas.microsoft.com/office/drawing/2014/main" id="{DBC869D1-3B56-4848-867E-C63F75012DF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UI-02  서버·Agent 등록</a:t>
            </a:r>
          </a:p>
        </p:txBody>
      </p:sp>
      <p:sp>
        <p:nvSpPr>
          <p:cNvPr id="2" name="서버 자산을 만든 뒤 Agent의 등록 요청을 해당 자산에 연결">
            <a:extLst>
              <a:ext uri="{FF2B5EF4-FFF2-40B4-BE49-F238E27FC236}">
                <a16:creationId xmlns:a16="http://schemas.microsoft.com/office/drawing/2014/main" id="{C30A5BC8-BD81-4BAB-AF52-4018B7C4BCF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 자산을 만든 뒤 Agent의 등록 요청을 해당 자산에 연결</a:t>
            </a:r>
          </a:p>
        </p:txBody>
      </p:sp>
      <p:sp>
        <p:nvSpPr>
          <p:cNvPr id="3" name="FR-01~03, NFR-02  ·  통합 설계안 v0.3">
            <a:extLst>
              <a:ext uri="{FF2B5EF4-FFF2-40B4-BE49-F238E27FC236}">
                <a16:creationId xmlns:a16="http://schemas.microsoft.com/office/drawing/2014/main" id="{330F03D3-7C6F-454A-B55B-DCAFB08A3D44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FR-01~03, NFR-02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8083A5-3BC3-4689-AAB5-05934DF59CAD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FFA0EC-2468-44DB-BD03-E055BDD093A2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49251B8C-E080-4A0C-BA46-C5C6ECD6FDE6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B58D7584-CBD5-467C-A385-64923467298D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0E4EAD-43A1-4BF5-83F5-3E67D4F562FF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8442E595-B0C1-4D6A-899D-9AF1343066BB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ACCC69-17C0-4095-9D4F-8B6C30B0BFC8}"/>
              </a:ext>
            </a:extLst>
          </p:cNvPr>
          <p:cNvSpPr>
            <a:spLocks noGrp="1"/>
          </p:cNvSpPr>
          <p:nvPr/>
        </p:nvSpPr>
        <p:spPr>
          <a:xfrm>
            <a:off x="695325" y="29241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서버·Agent">
            <a:extLst>
              <a:ext uri="{FF2B5EF4-FFF2-40B4-BE49-F238E27FC236}">
                <a16:creationId xmlns:a16="http://schemas.microsoft.com/office/drawing/2014/main" id="{7D21991F-520B-4854-B97E-2AAD810009E7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3" name="점검 실행">
            <a:extLst>
              <a:ext uri="{FF2B5EF4-FFF2-40B4-BE49-F238E27FC236}">
                <a16:creationId xmlns:a16="http://schemas.microsoft.com/office/drawing/2014/main" id="{AF296675-0806-4C03-AAF2-11B44B65B0A2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4" name="점검 결과">
            <a:extLst>
              <a:ext uri="{FF2B5EF4-FFF2-40B4-BE49-F238E27FC236}">
                <a16:creationId xmlns:a16="http://schemas.microsoft.com/office/drawing/2014/main" id="{49D2591E-556C-4E27-A1B3-EC96A233E4DB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149EB159-63C3-4051-A014-469A039F2BB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A12D6F19-E70E-4EAD-A881-0BD40E2EEF6B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19EE0941-4FEC-4778-88F2-9A6A0B8003EA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650E982F-D9A9-448B-9404-87EBDD9CB50F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A8E4F634-4786-44C7-B27E-B9B0B7EF046C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서버 등록">
            <a:extLst>
              <a:ext uri="{FF2B5EF4-FFF2-40B4-BE49-F238E27FC236}">
                <a16:creationId xmlns:a16="http://schemas.microsoft.com/office/drawing/2014/main" id="{CC87F7C8-E8B0-4EE0-8E72-B0AC0CE6BC43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서버 등록</a:t>
            </a:r>
          </a:p>
        </p:txBody>
      </p:sp>
      <p:sp>
        <p:nvSpPr>
          <p:cNvPr id="21" name="서버명 *">
            <a:extLst>
              <a:ext uri="{FF2B5EF4-FFF2-40B4-BE49-F238E27FC236}">
                <a16:creationId xmlns:a16="http://schemas.microsoft.com/office/drawing/2014/main" id="{3BE9DB16-1170-4D44-97F1-6C7F3287297B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서버명 *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BE50A9-CD6B-4BEA-90E8-BE43C88DF15B}"/>
              </a:ext>
            </a:extLst>
          </p:cNvPr>
          <p:cNvSpPr>
            <a:spLocks noGrp="1"/>
          </p:cNvSpPr>
          <p:nvPr/>
        </p:nvSpPr>
        <p:spPr>
          <a:xfrm>
            <a:off x="2314575" y="3371850"/>
            <a:ext cx="371475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rocky-web-01">
            <a:extLst>
              <a:ext uri="{FF2B5EF4-FFF2-40B4-BE49-F238E27FC236}">
                <a16:creationId xmlns:a16="http://schemas.microsoft.com/office/drawing/2014/main" id="{D156EA57-A39A-417D-9A8B-177B2E76225E}"/>
              </a:ext>
            </a:extLst>
          </p:cNvPr>
          <p:cNvSpPr>
            <a:spLocks noGrp="1"/>
          </p:cNvSpPr>
          <p:nvPr/>
        </p:nvSpPr>
        <p:spPr>
          <a:xfrm>
            <a:off x="2428875" y="3457575"/>
            <a:ext cx="3486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rocky-web-01</a:t>
            </a:r>
          </a:p>
        </p:txBody>
      </p:sp>
      <p:sp>
        <p:nvSpPr>
          <p:cNvPr id="24" name="관리 IP *">
            <a:extLst>
              <a:ext uri="{FF2B5EF4-FFF2-40B4-BE49-F238E27FC236}">
                <a16:creationId xmlns:a16="http://schemas.microsoft.com/office/drawing/2014/main" id="{CF1EDF53-5943-492D-8B6F-35D5DD4EFF1A}"/>
              </a:ext>
            </a:extLst>
          </p:cNvPr>
          <p:cNvSpPr>
            <a:spLocks noGrp="1"/>
          </p:cNvSpPr>
          <p:nvPr/>
        </p:nvSpPr>
        <p:spPr>
          <a:xfrm>
            <a:off x="6343650" y="3057525"/>
            <a:ext cx="3705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관리 IP *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3857725-6DF1-4F30-89DD-B30801CCB2F5}"/>
              </a:ext>
            </a:extLst>
          </p:cNvPr>
          <p:cNvSpPr>
            <a:spLocks noGrp="1"/>
          </p:cNvSpPr>
          <p:nvPr/>
        </p:nvSpPr>
        <p:spPr>
          <a:xfrm>
            <a:off x="6343650" y="3371850"/>
            <a:ext cx="3705225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192.0.2.10">
            <a:extLst>
              <a:ext uri="{FF2B5EF4-FFF2-40B4-BE49-F238E27FC236}">
                <a16:creationId xmlns:a16="http://schemas.microsoft.com/office/drawing/2014/main" id="{C7A18935-8BAC-4114-B6F8-0D98CDC2C22C}"/>
              </a:ext>
            </a:extLst>
          </p:cNvPr>
          <p:cNvSpPr>
            <a:spLocks noGrp="1"/>
          </p:cNvSpPr>
          <p:nvPr/>
        </p:nvSpPr>
        <p:spPr>
          <a:xfrm>
            <a:off x="6457950" y="3457575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192.0.2.10</a:t>
            </a:r>
          </a:p>
        </p:txBody>
      </p:sp>
      <p:sp>
        <p:nvSpPr>
          <p:cNvPr id="27" name="OS 유형 *">
            <a:extLst>
              <a:ext uri="{FF2B5EF4-FFF2-40B4-BE49-F238E27FC236}">
                <a16:creationId xmlns:a16="http://schemas.microsoft.com/office/drawing/2014/main" id="{A265D73B-244F-493E-B17D-2CEFDD68171E}"/>
              </a:ext>
            </a:extLst>
          </p:cNvPr>
          <p:cNvSpPr>
            <a:spLocks noGrp="1"/>
          </p:cNvSpPr>
          <p:nvPr/>
        </p:nvSpPr>
        <p:spPr>
          <a:xfrm>
            <a:off x="2314575" y="410527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OS 유형 *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6F79C6-D013-4919-871D-CEF0978B271A}"/>
              </a:ext>
            </a:extLst>
          </p:cNvPr>
          <p:cNvSpPr>
            <a:spLocks noGrp="1"/>
          </p:cNvSpPr>
          <p:nvPr/>
        </p:nvSpPr>
        <p:spPr>
          <a:xfrm>
            <a:off x="2314575" y="4419600"/>
            <a:ext cx="371475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Unix / Rocky Linux">
            <a:extLst>
              <a:ext uri="{FF2B5EF4-FFF2-40B4-BE49-F238E27FC236}">
                <a16:creationId xmlns:a16="http://schemas.microsoft.com/office/drawing/2014/main" id="{1F342F8F-C6AA-4AF6-B1B7-5FC0D8529EF3}"/>
              </a:ext>
            </a:extLst>
          </p:cNvPr>
          <p:cNvSpPr>
            <a:spLocks noGrp="1"/>
          </p:cNvSpPr>
          <p:nvPr/>
        </p:nvSpPr>
        <p:spPr>
          <a:xfrm>
            <a:off x="2428875" y="4505325"/>
            <a:ext cx="3486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Unix / Rocky Linux</a:t>
            </a:r>
          </a:p>
        </p:txBody>
      </p:sp>
      <p:sp>
        <p:nvSpPr>
          <p:cNvPr id="30" name="예상 버전 *">
            <a:extLst>
              <a:ext uri="{FF2B5EF4-FFF2-40B4-BE49-F238E27FC236}">
                <a16:creationId xmlns:a16="http://schemas.microsoft.com/office/drawing/2014/main" id="{23079025-5DD3-4CF8-8CB0-1C8E4D8075C7}"/>
              </a:ext>
            </a:extLst>
          </p:cNvPr>
          <p:cNvSpPr>
            <a:spLocks noGrp="1"/>
          </p:cNvSpPr>
          <p:nvPr/>
        </p:nvSpPr>
        <p:spPr>
          <a:xfrm>
            <a:off x="6343650" y="4105275"/>
            <a:ext cx="3705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예상 버전 *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19B6C26-35F6-4D49-A2F8-F309D90C914D}"/>
              </a:ext>
            </a:extLst>
          </p:cNvPr>
          <p:cNvSpPr>
            <a:spLocks noGrp="1"/>
          </p:cNvSpPr>
          <p:nvPr/>
        </p:nvSpPr>
        <p:spPr>
          <a:xfrm>
            <a:off x="6343650" y="4419600"/>
            <a:ext cx="3705225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9 계열">
            <a:extLst>
              <a:ext uri="{FF2B5EF4-FFF2-40B4-BE49-F238E27FC236}">
                <a16:creationId xmlns:a16="http://schemas.microsoft.com/office/drawing/2014/main" id="{1A0EA9B5-3281-4703-9262-987C9CEF8858}"/>
              </a:ext>
            </a:extLst>
          </p:cNvPr>
          <p:cNvSpPr>
            <a:spLocks noGrp="1"/>
          </p:cNvSpPr>
          <p:nvPr/>
        </p:nvSpPr>
        <p:spPr>
          <a:xfrm>
            <a:off x="6457950" y="4505325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9 계열</a:t>
            </a:r>
          </a:p>
        </p:txBody>
      </p:sp>
      <p:sp>
        <p:nvSpPr>
          <p:cNvPr id="33" name="점검 프로파일 *">
            <a:extLst>
              <a:ext uri="{FF2B5EF4-FFF2-40B4-BE49-F238E27FC236}">
                <a16:creationId xmlns:a16="http://schemas.microsoft.com/office/drawing/2014/main" id="{B7580862-5232-4F31-AA21-EB74587E045E}"/>
              </a:ext>
            </a:extLst>
          </p:cNvPr>
          <p:cNvSpPr>
            <a:spLocks noGrp="1"/>
          </p:cNvSpPr>
          <p:nvPr/>
        </p:nvSpPr>
        <p:spPr>
          <a:xfrm>
            <a:off x="2314575" y="5153025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점검 프로파일 *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C8FD1E6-F237-4602-B160-BEFF8922BCF8}"/>
              </a:ext>
            </a:extLst>
          </p:cNvPr>
          <p:cNvSpPr>
            <a:spLocks noGrp="1"/>
          </p:cNvSpPr>
          <p:nvPr/>
        </p:nvSpPr>
        <p:spPr>
          <a:xfrm>
            <a:off x="2314575" y="5467350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KISA 2026 Unix 전체">
            <a:extLst>
              <a:ext uri="{FF2B5EF4-FFF2-40B4-BE49-F238E27FC236}">
                <a16:creationId xmlns:a16="http://schemas.microsoft.com/office/drawing/2014/main" id="{D38D9ECB-A11A-4FD6-85CF-1E13AE4C38E1}"/>
              </a:ext>
            </a:extLst>
          </p:cNvPr>
          <p:cNvSpPr>
            <a:spLocks noGrp="1"/>
          </p:cNvSpPr>
          <p:nvPr/>
        </p:nvSpPr>
        <p:spPr>
          <a:xfrm>
            <a:off x="2428875" y="5553075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KISA 2026 Unix 전체</a:t>
            </a:r>
          </a:p>
        </p:txBody>
      </p:sp>
      <p:sp>
        <p:nvSpPr>
          <p:cNvPr id="36" name="Agent 등록 상태: 대기">
            <a:extLst>
              <a:ext uri="{FF2B5EF4-FFF2-40B4-BE49-F238E27FC236}">
                <a16:creationId xmlns:a16="http://schemas.microsoft.com/office/drawing/2014/main" id="{725EDEAB-F3FF-41F7-AC23-034F09C11F37}"/>
              </a:ext>
            </a:extLst>
          </p:cNvPr>
          <p:cNvSpPr>
            <a:spLocks noGrp="1"/>
          </p:cNvSpPr>
          <p:nvPr/>
        </p:nvSpPr>
        <p:spPr>
          <a:xfrm>
            <a:off x="2314575" y="6162675"/>
            <a:ext cx="7734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rPr>
              <a:t>Agent 등록 상태: 대기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1155DB-8005-4324-A0F9-6611C65247F9}"/>
              </a:ext>
            </a:extLst>
          </p:cNvPr>
          <p:cNvSpPr>
            <a:spLocks noGrp="1"/>
          </p:cNvSpPr>
          <p:nvPr/>
        </p:nvSpPr>
        <p:spPr>
          <a:xfrm>
            <a:off x="2314575" y="6705600"/>
            <a:ext cx="3143250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저장 후 등록 토큰 발급">
            <a:extLst>
              <a:ext uri="{FF2B5EF4-FFF2-40B4-BE49-F238E27FC236}">
                <a16:creationId xmlns:a16="http://schemas.microsoft.com/office/drawing/2014/main" id="{69B095D8-5AA6-43AE-BFA1-2D03C3C75BB8}"/>
              </a:ext>
            </a:extLst>
          </p:cNvPr>
          <p:cNvSpPr>
            <a:spLocks noGrp="1"/>
          </p:cNvSpPr>
          <p:nvPr/>
        </p:nvSpPr>
        <p:spPr>
          <a:xfrm>
            <a:off x="2390775" y="6772275"/>
            <a:ext cx="2990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저장 후 등록 토큰 발급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24B8A60-4C05-47DB-83B5-2440250AE651}"/>
              </a:ext>
            </a:extLst>
          </p:cNvPr>
          <p:cNvSpPr>
            <a:spLocks noGrp="1"/>
          </p:cNvSpPr>
          <p:nvPr/>
        </p:nvSpPr>
        <p:spPr>
          <a:xfrm>
            <a:off x="5648325" y="6705600"/>
            <a:ext cx="13144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취소">
            <a:extLst>
              <a:ext uri="{FF2B5EF4-FFF2-40B4-BE49-F238E27FC236}">
                <a16:creationId xmlns:a16="http://schemas.microsoft.com/office/drawing/2014/main" id="{923EDFF7-1748-4450-8112-AB17FA79BBFC}"/>
              </a:ext>
            </a:extLst>
          </p:cNvPr>
          <p:cNvSpPr>
            <a:spLocks noGrp="1"/>
          </p:cNvSpPr>
          <p:nvPr/>
        </p:nvSpPr>
        <p:spPr>
          <a:xfrm>
            <a:off x="5724525" y="6772275"/>
            <a:ext cx="1162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취소</a:t>
            </a:r>
          </a:p>
        </p:txBody>
      </p:sp>
      <p:sp>
        <p:nvSpPr>
          <p:cNvPr id="41" name="등록 토큰은 발급 시 1회 표시합니다. 목록·이력에는 원문을 표시하지 않습니다.">
            <a:extLst>
              <a:ext uri="{FF2B5EF4-FFF2-40B4-BE49-F238E27FC236}">
                <a16:creationId xmlns:a16="http://schemas.microsoft.com/office/drawing/2014/main" id="{E39C8E4B-16FB-4BC7-9533-F78D5C97ECF0}"/>
              </a:ext>
            </a:extLst>
          </p:cNvPr>
          <p:cNvSpPr>
            <a:spLocks noGrp="1"/>
          </p:cNvSpPr>
          <p:nvPr/>
        </p:nvSpPr>
        <p:spPr>
          <a:xfrm>
            <a:off x="2314575" y="7324725"/>
            <a:ext cx="7953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등록 토큰은 발급 시 1회 표시합니다. 목록·이력에는 원문을 표시하지 않습니다.</a:t>
            </a:r>
          </a:p>
        </p:txBody>
      </p:sp>
      <p:sp>
        <p:nvSpPr>
          <p:cNvPr id="42" name="필수·중복 검사">
            <a:extLst>
              <a:ext uri="{FF2B5EF4-FFF2-40B4-BE49-F238E27FC236}">
                <a16:creationId xmlns:a16="http://schemas.microsoft.com/office/drawing/2014/main" id="{48D1A733-9EC7-4DDD-8806-70CDC4AFE943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필수·중복 검사</a:t>
            </a:r>
          </a:p>
        </p:txBody>
      </p:sp>
      <p:sp>
        <p:nvSpPr>
          <p:cNvPr id="43" name="서버명·IP·OS·프로파일 필수. IP 형식과 관리 범위 중복을 검사합니다.">
            <a:extLst>
              <a:ext uri="{FF2B5EF4-FFF2-40B4-BE49-F238E27FC236}">
                <a16:creationId xmlns:a16="http://schemas.microsoft.com/office/drawing/2014/main" id="{69DEA846-D3AF-42A6-88FC-FB4E14788E8E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서버명·IP·OS·프로파일 필수. IP 형식과 관리 범위 중복을 검사합니다.</a:t>
            </a:r>
          </a:p>
        </p:txBody>
      </p:sp>
      <p:sp>
        <p:nvSpPr>
          <p:cNvPr id="44" name="등록 결과">
            <a:extLst>
              <a:ext uri="{FF2B5EF4-FFF2-40B4-BE49-F238E27FC236}">
                <a16:creationId xmlns:a16="http://schemas.microsoft.com/office/drawing/2014/main" id="{1210AC5F-9258-4741-AB82-36A967C796E1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등록 결과</a:t>
            </a:r>
          </a:p>
        </p:txBody>
      </p:sp>
      <p:sp>
        <p:nvSpPr>
          <p:cNvPr id="45" name="고정 server_id를 발급합니다. 이름·IP 변경과 Agent 재설치 시 유지합니다.">
            <a:extLst>
              <a:ext uri="{FF2B5EF4-FFF2-40B4-BE49-F238E27FC236}">
                <a16:creationId xmlns:a16="http://schemas.microsoft.com/office/drawing/2014/main" id="{5ABF5447-F84E-4F42-B425-D7EC7A125DA3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고정 server_id를 발급합니다. 이름·IP 변경과 Agent 재설치 시 유지합니다.</a:t>
            </a:r>
          </a:p>
        </p:txBody>
      </p:sp>
      <p:sp>
        <p:nvSpPr>
          <p:cNvPr id="46" name="자동 수집 대조">
            <a:extLst>
              <a:ext uri="{FF2B5EF4-FFF2-40B4-BE49-F238E27FC236}">
                <a16:creationId xmlns:a16="http://schemas.microsoft.com/office/drawing/2014/main" id="{333A48E6-157D-4017-A917-DD9B255ED6BE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자동 수집 대조</a:t>
            </a:r>
          </a:p>
        </p:txBody>
      </p:sp>
      <p:sp>
        <p:nvSpPr>
          <p:cNvPr id="47" name="등록 후 Agent의 실제 OS·버전을 비교하고 불일치를 표시합니다.">
            <a:extLst>
              <a:ext uri="{FF2B5EF4-FFF2-40B4-BE49-F238E27FC236}">
                <a16:creationId xmlns:a16="http://schemas.microsoft.com/office/drawing/2014/main" id="{2113B72B-ABF7-46D4-948D-BB825EA83B85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등록 후 Agent의 실제 OS·버전을 비교하고 불일치를 표시합니다.</a:t>
            </a:r>
          </a:p>
        </p:txBody>
      </p:sp>
      <p:sp>
        <p:nvSpPr>
          <p:cNvPr id="48" name="예외·API">
            <a:extLst>
              <a:ext uri="{FF2B5EF4-FFF2-40B4-BE49-F238E27FC236}">
                <a16:creationId xmlns:a16="http://schemas.microsoft.com/office/drawing/2014/main" id="{449F66E9-3E12-451E-941F-CD82F1FDDB3D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예외·API</a:t>
            </a:r>
          </a:p>
        </p:txBody>
      </p:sp>
      <p:sp>
        <p:nvSpPr>
          <p:cNvPr id="49" name="422 입력 오류 / 409 중복&#10;POST /api/v2/servers&#10;POST /serv">
            <a:extLst>
              <a:ext uri="{FF2B5EF4-FFF2-40B4-BE49-F238E27FC236}">
                <a16:creationId xmlns:a16="http://schemas.microsoft.com/office/drawing/2014/main" id="{B4585141-6950-4FDA-8C7A-A39EAEDDE284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422 입력 오류 / 409 중복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/api/v2/servers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/servers/{id}/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enrollment-tokens</a:t>
            </a:r>
          </a:p>
        </p:txBody>
      </p:sp>
    </p:spTree>
    <p:extLst>
      <p:ext uri="{BB962C8B-B14F-4D97-AF65-F5344CB8AC3E}">
        <p14:creationId xmlns:p14="http://schemas.microsoft.com/office/powerpoint/2010/main" val="332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UI-03  Agent 상세와 연결 상태">
            <a:extLst>
              <a:ext uri="{FF2B5EF4-FFF2-40B4-BE49-F238E27FC236}">
                <a16:creationId xmlns:a16="http://schemas.microsoft.com/office/drawing/2014/main" id="{92339872-D875-4BAC-B738-408AD081D0C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UI-03  Agent 상세와 연결 상태</a:t>
            </a:r>
          </a:p>
        </p:txBody>
      </p:sp>
      <p:sp>
        <p:nvSpPr>
          <p:cNvPr id="2" name="등록·통신·버전 호환성과 작업 실행 가능 여부를 함께 확인">
            <a:extLst>
              <a:ext uri="{FF2B5EF4-FFF2-40B4-BE49-F238E27FC236}">
                <a16:creationId xmlns:a16="http://schemas.microsoft.com/office/drawing/2014/main" id="{AEBC34FA-FBB6-4208-A65D-4203E2B5651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등록·통신·버전 호환성과 작업 실행 가능 여부를 함께 확인</a:t>
            </a:r>
          </a:p>
        </p:txBody>
      </p:sp>
      <p:sp>
        <p:nvSpPr>
          <p:cNvPr id="3" name="FR-02~03, NFR-03, NFR-10  ·  통합 설계안 v0.3">
            <a:extLst>
              <a:ext uri="{FF2B5EF4-FFF2-40B4-BE49-F238E27FC236}">
                <a16:creationId xmlns:a16="http://schemas.microsoft.com/office/drawing/2014/main" id="{2D95D386-740F-4537-BC57-D552C8C7CD44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FR-02~03, NFR-03, NFR-10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F63B78-77C2-4F67-9DA0-F4E486AB2574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BA2915-7EC2-42CA-BD56-0952744180D4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8FAAA4D9-D55A-45A5-9DDA-7096E3FF092C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AF68E6CD-673B-4835-A2FC-C08A7C9438B8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CC4286-1260-42B6-AAD9-A43B0CC2E8E5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D377006B-C5DF-4107-AEB0-CED8A77037EC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820172-A76F-4A09-8619-E6482A9FB176}"/>
              </a:ext>
            </a:extLst>
          </p:cNvPr>
          <p:cNvSpPr>
            <a:spLocks noGrp="1"/>
          </p:cNvSpPr>
          <p:nvPr/>
        </p:nvSpPr>
        <p:spPr>
          <a:xfrm>
            <a:off x="695325" y="29241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서버·Agent">
            <a:extLst>
              <a:ext uri="{FF2B5EF4-FFF2-40B4-BE49-F238E27FC236}">
                <a16:creationId xmlns:a16="http://schemas.microsoft.com/office/drawing/2014/main" id="{3B062EF0-2A44-4744-9B2D-368C66581CA7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3" name="점검 실행">
            <a:extLst>
              <a:ext uri="{FF2B5EF4-FFF2-40B4-BE49-F238E27FC236}">
                <a16:creationId xmlns:a16="http://schemas.microsoft.com/office/drawing/2014/main" id="{3E279218-A188-4218-AEB2-7075D2C7FD22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4" name="점검 결과">
            <a:extLst>
              <a:ext uri="{FF2B5EF4-FFF2-40B4-BE49-F238E27FC236}">
                <a16:creationId xmlns:a16="http://schemas.microsoft.com/office/drawing/2014/main" id="{2135B27A-22B0-400A-A208-BF148BACD384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E65EAEA9-B9DE-458D-822A-682B8D969813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2F5B27FF-EFD4-4AB1-8AD9-65498A769882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1D2FB510-08E3-4014-928C-540D6A266B5A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E85AE84A-F197-42EC-A2A3-0EB38A09347A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2E0F7662-C05C-42DA-84B1-4EDF5965843B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rocky-web-01  Agent 상세">
            <a:extLst>
              <a:ext uri="{FF2B5EF4-FFF2-40B4-BE49-F238E27FC236}">
                <a16:creationId xmlns:a16="http://schemas.microsoft.com/office/drawing/2014/main" id="{4AB52189-3AA8-43F8-9047-14865216905E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rocky-web-01  Agent 상세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2314575" y="3057525"/>
          <a:ext cx="7953375" cy="3543302"/>
        </p:xfrm>
        <a:graphic>
          <a:graphicData uri="http://schemas.openxmlformats.org/drawingml/2006/table">
            <a:tbl>
              <a:tblPr/>
              <a:tblGrid>
                <a:gridCol w="25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18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현재 상태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ID / 버전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agt-lnx-01 / 0.1.0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/ 연결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완료 / 온라인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마지막 수신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2026-09-15 13:20:00 KST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수집 OS / 역할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Rocky 9 계열 / OpenSSH server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모듈 / 정책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unix-2026.1 / kisa-2026.1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최근 오류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D3F64F6A-084F-474C-952F-3D1FF6548E3E}"/>
              </a:ext>
            </a:extLst>
          </p:cNvPr>
          <p:cNvSpPr>
            <a:spLocks noGrp="1"/>
          </p:cNvSpPr>
          <p:nvPr/>
        </p:nvSpPr>
        <p:spPr>
          <a:xfrm>
            <a:off x="2314575" y="6896100"/>
            <a:ext cx="1724025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점검 실행">
            <a:extLst>
              <a:ext uri="{FF2B5EF4-FFF2-40B4-BE49-F238E27FC236}">
                <a16:creationId xmlns:a16="http://schemas.microsoft.com/office/drawing/2014/main" id="{72EC85E7-5078-489A-90C9-6E48A5740865}"/>
              </a:ext>
            </a:extLst>
          </p:cNvPr>
          <p:cNvSpPr>
            <a:spLocks noGrp="1"/>
          </p:cNvSpPr>
          <p:nvPr/>
        </p:nvSpPr>
        <p:spPr>
          <a:xfrm>
            <a:off x="2390775" y="6962775"/>
            <a:ext cx="1571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BEA221-948D-4FA5-AC8C-84B05E80D077}"/>
              </a:ext>
            </a:extLst>
          </p:cNvPr>
          <p:cNvSpPr>
            <a:spLocks noGrp="1"/>
          </p:cNvSpPr>
          <p:nvPr/>
        </p:nvSpPr>
        <p:spPr>
          <a:xfrm>
            <a:off x="4219575" y="6896100"/>
            <a:ext cx="1724025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연결 이력">
            <a:extLst>
              <a:ext uri="{FF2B5EF4-FFF2-40B4-BE49-F238E27FC236}">
                <a16:creationId xmlns:a16="http://schemas.microsoft.com/office/drawing/2014/main" id="{77ABA84C-FD72-41E8-84D6-D7241915F175}"/>
              </a:ext>
            </a:extLst>
          </p:cNvPr>
          <p:cNvSpPr>
            <a:spLocks noGrp="1"/>
          </p:cNvSpPr>
          <p:nvPr/>
        </p:nvSpPr>
        <p:spPr>
          <a:xfrm>
            <a:off x="4295775" y="6962775"/>
            <a:ext cx="1571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연결 이력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64B8AC2-30E5-4BF6-8C08-C03EEFF628C3}"/>
              </a:ext>
            </a:extLst>
          </p:cNvPr>
          <p:cNvSpPr>
            <a:spLocks noGrp="1"/>
          </p:cNvSpPr>
          <p:nvPr/>
        </p:nvSpPr>
        <p:spPr>
          <a:xfrm>
            <a:off x="6124575" y="6896100"/>
            <a:ext cx="2257425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자격증명 폐기">
            <a:extLst>
              <a:ext uri="{FF2B5EF4-FFF2-40B4-BE49-F238E27FC236}">
                <a16:creationId xmlns:a16="http://schemas.microsoft.com/office/drawing/2014/main" id="{936D3F82-2D5E-4403-BF91-677EE4AB7DD5}"/>
              </a:ext>
            </a:extLst>
          </p:cNvPr>
          <p:cNvSpPr>
            <a:spLocks noGrp="1"/>
          </p:cNvSpPr>
          <p:nvPr/>
        </p:nvSpPr>
        <p:spPr>
          <a:xfrm>
            <a:off x="6200775" y="6962775"/>
            <a:ext cx="21050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자격증명 폐기</a:t>
            </a:r>
          </a:p>
        </p:txBody>
      </p:sp>
      <p:sp>
        <p:nvSpPr>
          <p:cNvPr id="28" name="오프라인 또는 호환되지 않는 Agent 버전에서는 신규 변경 요청을 차단">
            <a:extLst>
              <a:ext uri="{FF2B5EF4-FFF2-40B4-BE49-F238E27FC236}">
                <a16:creationId xmlns:a16="http://schemas.microsoft.com/office/drawing/2014/main" id="{4C942BF9-80A9-4A7E-B28F-14B7B094F0A0}"/>
              </a:ext>
            </a:extLst>
          </p:cNvPr>
          <p:cNvSpPr>
            <a:spLocks noGrp="1"/>
          </p:cNvSpPr>
          <p:nvPr/>
        </p:nvSpPr>
        <p:spPr>
          <a:xfrm>
            <a:off x="2314575" y="7467600"/>
            <a:ext cx="7953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오프라인 또는 호환되지 않는 Agent 버전에서는 신규 변경 요청을 차단</a:t>
            </a:r>
          </a:p>
        </p:txBody>
      </p:sp>
      <p:sp>
        <p:nvSpPr>
          <p:cNvPr id="29" name="온라인 기준 제안">
            <a:extLst>
              <a:ext uri="{FF2B5EF4-FFF2-40B4-BE49-F238E27FC236}">
                <a16:creationId xmlns:a16="http://schemas.microsoft.com/office/drawing/2014/main" id="{FCB6D70B-9C35-4FA3-A0AB-0072BB3E8D6B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온라인 기준 제안</a:t>
            </a:r>
          </a:p>
        </p:txBody>
      </p:sp>
      <p:sp>
        <p:nvSpPr>
          <p:cNvPr id="30" name="30초 Heartbeat, 90초 미수신 시 오프라인. 판정에는 중앙 수신시각을 사용합니다">
            <a:extLst>
              <a:ext uri="{FF2B5EF4-FFF2-40B4-BE49-F238E27FC236}">
                <a16:creationId xmlns:a16="http://schemas.microsoft.com/office/drawing/2014/main" id="{386BB908-D8ED-48E5-BA3E-B8A407D695CB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30초 Heartbeat, 90초 미수신 시 오프라인. 판정에는 중앙 수신시각을 사용합니다.</a:t>
            </a:r>
          </a:p>
        </p:txBody>
      </p:sp>
      <p:sp>
        <p:nvSpPr>
          <p:cNvPr id="31" name="버전 불일치">
            <a:extLst>
              <a:ext uri="{FF2B5EF4-FFF2-40B4-BE49-F238E27FC236}">
                <a16:creationId xmlns:a16="http://schemas.microsoft.com/office/drawing/2014/main" id="{A53C6E7C-21AF-483E-AEE0-F50437F93D2B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버전 불일치</a:t>
            </a:r>
          </a:p>
        </p:txBody>
      </p:sp>
      <p:sp>
        <p:nvSpPr>
          <p:cNvPr id="32" name="지원 API·모듈·정책 버전을 비교하고 변경 실행을 보류합니다.">
            <a:extLst>
              <a:ext uri="{FF2B5EF4-FFF2-40B4-BE49-F238E27FC236}">
                <a16:creationId xmlns:a16="http://schemas.microsoft.com/office/drawing/2014/main" id="{731FAA70-6160-4A95-A3A8-061A1A58BF49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지원 API·모듈·정책 버전을 비교하고 변경 실행을 보류합니다.</a:t>
            </a:r>
          </a:p>
        </p:txBody>
      </p:sp>
      <p:sp>
        <p:nvSpPr>
          <p:cNvPr id="33" name="민감정보">
            <a:extLst>
              <a:ext uri="{FF2B5EF4-FFF2-40B4-BE49-F238E27FC236}">
                <a16:creationId xmlns:a16="http://schemas.microsoft.com/office/drawing/2014/main" id="{E6B26181-1197-4967-9688-1F9A9151349D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민감정보</a:t>
            </a:r>
          </a:p>
        </p:txBody>
      </p:sp>
      <p:sp>
        <p:nvSpPr>
          <p:cNvPr id="34" name="토큰·인증서 개인키는 표시하지 않으며 자격증명 식별자만 조회합니다.">
            <a:extLst>
              <a:ext uri="{FF2B5EF4-FFF2-40B4-BE49-F238E27FC236}">
                <a16:creationId xmlns:a16="http://schemas.microsoft.com/office/drawing/2014/main" id="{28A46A73-7AC2-4935-831D-B0F61906C907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토큰·인증서 개인키는 표시하지 않으며 자격증명 식별자만 조회합니다.</a:t>
            </a:r>
          </a:p>
        </p:txBody>
      </p:sp>
      <p:sp>
        <p:nvSpPr>
          <p:cNvPr id="35" name="API 연결">
            <a:extLst>
              <a:ext uri="{FF2B5EF4-FFF2-40B4-BE49-F238E27FC236}">
                <a16:creationId xmlns:a16="http://schemas.microsoft.com/office/drawing/2014/main" id="{044C9C76-22AD-410F-A2E5-C7CE9A20BB9D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6" name="GET /api/v2/agents/{id}&#10;GET /agents/{id}/events&#10;PO">
            <a:extLst>
              <a:ext uri="{FF2B5EF4-FFF2-40B4-BE49-F238E27FC236}">
                <a16:creationId xmlns:a16="http://schemas.microsoft.com/office/drawing/2014/main" id="{D987CFA6-9D71-4780-AE27-861201414441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/api/v2/agents/{id}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/agents/{id}/events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/agents/{id}/revocations</a:t>
            </a:r>
          </a:p>
        </p:txBody>
      </p:sp>
    </p:spTree>
    <p:extLst>
      <p:ext uri="{BB962C8B-B14F-4D97-AF65-F5344CB8AC3E}">
        <p14:creationId xmlns:p14="http://schemas.microsoft.com/office/powerpoint/2010/main" val="1723777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UI-04  점검 범위 선택과 실행">
            <a:extLst>
              <a:ext uri="{FF2B5EF4-FFF2-40B4-BE49-F238E27FC236}">
                <a16:creationId xmlns:a16="http://schemas.microsoft.com/office/drawing/2014/main" id="{6D973A5D-06B3-458E-B136-E0F90EB751D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UI-04  점검 범위 선택과 실행</a:t>
            </a:r>
          </a:p>
        </p:txBody>
      </p:sp>
      <p:sp>
        <p:nvSpPr>
          <p:cNvPr id="2" name="실행 전 대상·범위·연결·지원 버전을 확인">
            <a:extLst>
              <a:ext uri="{FF2B5EF4-FFF2-40B4-BE49-F238E27FC236}">
                <a16:creationId xmlns:a16="http://schemas.microsoft.com/office/drawing/2014/main" id="{ECD44FA2-FDBD-454A-A261-AD29A0416DC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실행 전 대상·범위·연결·지원 버전을 확인</a:t>
            </a:r>
          </a:p>
        </p:txBody>
      </p:sp>
      <p:sp>
        <p:nvSpPr>
          <p:cNvPr id="3" name="FR-04~06, FR-10  ·  통합 설계안 v0.3">
            <a:extLst>
              <a:ext uri="{FF2B5EF4-FFF2-40B4-BE49-F238E27FC236}">
                <a16:creationId xmlns:a16="http://schemas.microsoft.com/office/drawing/2014/main" id="{883ECCAD-A216-4D43-8942-3FD8A3F13047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FR-04~06, FR-10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D6E3C3-FD6F-4177-AC2D-EE93187221ED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E3C1A4-58FB-46BF-834E-E598834575FD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3AD5C8E5-21C8-4D89-9F3A-BAA1FACD66D1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5DA3ADA1-5AD6-4DC8-9F54-41F33B2FC609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203F2-E1B6-4C2B-85D8-4CCC38001705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66D53852-D479-4DC7-A86A-116B6A160D79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9469C704-22E9-4707-AAEE-E493C5FD07D6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A42996-6D82-4DB9-A866-435C3B0D06F8}"/>
              </a:ext>
            </a:extLst>
          </p:cNvPr>
          <p:cNvSpPr>
            <a:spLocks noGrp="1"/>
          </p:cNvSpPr>
          <p:nvPr/>
        </p:nvSpPr>
        <p:spPr>
          <a:xfrm>
            <a:off x="695325" y="343852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점검 실행">
            <a:extLst>
              <a:ext uri="{FF2B5EF4-FFF2-40B4-BE49-F238E27FC236}">
                <a16:creationId xmlns:a16="http://schemas.microsoft.com/office/drawing/2014/main" id="{9C63C465-0AE8-46DE-AE55-5A99120CB692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4" name="점검 결과">
            <a:extLst>
              <a:ext uri="{FF2B5EF4-FFF2-40B4-BE49-F238E27FC236}">
                <a16:creationId xmlns:a16="http://schemas.microsoft.com/office/drawing/2014/main" id="{5A0A8529-B8CA-4EF5-B1F2-5DE57221B2CA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4D15182A-EB6C-4F93-B781-808E5673CA93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7AE0ACDF-101D-42B8-8342-431FEC04C483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6485FA65-B796-4DFD-A053-80B2901F648B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9435E722-DC4B-4AD1-998B-D70FB3C66038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13AD1D41-B616-4721-BCB2-C0C649378A1D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새 점검 실행">
            <a:extLst>
              <a:ext uri="{FF2B5EF4-FFF2-40B4-BE49-F238E27FC236}">
                <a16:creationId xmlns:a16="http://schemas.microsoft.com/office/drawing/2014/main" id="{E3550842-09BD-485B-A712-7AF65B9F049C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새 점검 실행</a:t>
            </a:r>
          </a:p>
        </p:txBody>
      </p:sp>
      <p:sp>
        <p:nvSpPr>
          <p:cNvPr id="21" name="대상 서버">
            <a:extLst>
              <a:ext uri="{FF2B5EF4-FFF2-40B4-BE49-F238E27FC236}">
                <a16:creationId xmlns:a16="http://schemas.microsoft.com/office/drawing/2014/main" id="{41944495-9FCC-4475-BD7D-E428370FC3F0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대상 서버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1AEAA1-CAC5-4830-9C6E-EC27796F9A11}"/>
              </a:ext>
            </a:extLst>
          </p:cNvPr>
          <p:cNvSpPr>
            <a:spLocks noGrp="1"/>
          </p:cNvSpPr>
          <p:nvPr/>
        </p:nvSpPr>
        <p:spPr>
          <a:xfrm>
            <a:off x="2314575" y="3371850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rocky-web-01  /  온라인">
            <a:extLst>
              <a:ext uri="{FF2B5EF4-FFF2-40B4-BE49-F238E27FC236}">
                <a16:creationId xmlns:a16="http://schemas.microsoft.com/office/drawing/2014/main" id="{19B99639-C460-4AF3-8D6C-E15909875F9B}"/>
              </a:ext>
            </a:extLst>
          </p:cNvPr>
          <p:cNvSpPr>
            <a:spLocks noGrp="1"/>
          </p:cNvSpPr>
          <p:nvPr/>
        </p:nvSpPr>
        <p:spPr>
          <a:xfrm>
            <a:off x="2428875" y="3457575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rocky-web-01  /  온라인</a:t>
            </a:r>
          </a:p>
        </p:txBody>
      </p:sp>
      <p:sp>
        <p:nvSpPr>
          <p:cNvPr id="24" name="프로파일">
            <a:extLst>
              <a:ext uri="{FF2B5EF4-FFF2-40B4-BE49-F238E27FC236}">
                <a16:creationId xmlns:a16="http://schemas.microsoft.com/office/drawing/2014/main" id="{188FF3D8-5D24-47D8-B65D-335B1E6AD1C3}"/>
              </a:ext>
            </a:extLst>
          </p:cNvPr>
          <p:cNvSpPr>
            <a:spLocks noGrp="1"/>
          </p:cNvSpPr>
          <p:nvPr/>
        </p:nvSpPr>
        <p:spPr>
          <a:xfrm>
            <a:off x="2314575" y="4019550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프로파일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D682C9-CED9-4D51-A37A-FA3065C2295A}"/>
              </a:ext>
            </a:extLst>
          </p:cNvPr>
          <p:cNvSpPr>
            <a:spLocks noGrp="1"/>
          </p:cNvSpPr>
          <p:nvPr/>
        </p:nvSpPr>
        <p:spPr>
          <a:xfrm>
            <a:off x="2314575" y="4333875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KISA 2026 Unix 전체  /  67개">
            <a:extLst>
              <a:ext uri="{FF2B5EF4-FFF2-40B4-BE49-F238E27FC236}">
                <a16:creationId xmlns:a16="http://schemas.microsoft.com/office/drawing/2014/main" id="{5BB8E4DF-76C3-4D68-AE38-A55B25D448ED}"/>
              </a:ext>
            </a:extLst>
          </p:cNvPr>
          <p:cNvSpPr>
            <a:spLocks noGrp="1"/>
          </p:cNvSpPr>
          <p:nvPr/>
        </p:nvSpPr>
        <p:spPr>
          <a:xfrm>
            <a:off x="2428875" y="4419600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KISA 2026 Unix 전체  /  67개</a:t>
            </a:r>
          </a:p>
        </p:txBody>
      </p:sp>
      <p:sp>
        <p:nvSpPr>
          <p:cNvPr id="27" name="점검 범위">
            <a:extLst>
              <a:ext uri="{FF2B5EF4-FFF2-40B4-BE49-F238E27FC236}">
                <a16:creationId xmlns:a16="http://schemas.microsoft.com/office/drawing/2014/main" id="{026E5E36-78BA-4466-9C55-AE6905B16DAE}"/>
              </a:ext>
            </a:extLst>
          </p:cNvPr>
          <p:cNvSpPr>
            <a:spLocks noGrp="1"/>
          </p:cNvSpPr>
          <p:nvPr/>
        </p:nvSpPr>
        <p:spPr>
          <a:xfrm>
            <a:off x="2314575" y="5095875"/>
            <a:ext cx="7953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점검 범위</a:t>
            </a:r>
          </a:p>
        </p:txBody>
      </p:sp>
      <p:sp>
        <p:nvSpPr>
          <p:cNvPr id="28" name="[선택] 전체 67개    [ ] 영역 선택    [ ] 코드 직접 선택">
            <a:extLst>
              <a:ext uri="{FF2B5EF4-FFF2-40B4-BE49-F238E27FC236}">
                <a16:creationId xmlns:a16="http://schemas.microsoft.com/office/drawing/2014/main" id="{8DAA3707-0370-4E27-8764-73B8174D4096}"/>
              </a:ext>
            </a:extLst>
          </p:cNvPr>
          <p:cNvSpPr>
            <a:spLocks noGrp="1"/>
          </p:cNvSpPr>
          <p:nvPr/>
        </p:nvSpPr>
        <p:spPr>
          <a:xfrm>
            <a:off x="2314575" y="5534025"/>
            <a:ext cx="7953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[선택] 전체 67개    [ ] 영역 선택    [ ] 코드 직접 선택</a:t>
            </a:r>
          </a:p>
        </p:txBody>
      </p:sp>
      <p:sp>
        <p:nvSpPr>
          <p:cNvPr id="29" name="사전 확인: Agent 온라인 / 버전 호환 / 프로파일 고정">
            <a:extLst>
              <a:ext uri="{FF2B5EF4-FFF2-40B4-BE49-F238E27FC236}">
                <a16:creationId xmlns:a16="http://schemas.microsoft.com/office/drawing/2014/main" id="{F81EC112-D99C-494C-AC1E-96490AB8ECC8}"/>
              </a:ext>
            </a:extLst>
          </p:cNvPr>
          <p:cNvSpPr>
            <a:spLocks noGrp="1"/>
          </p:cNvSpPr>
          <p:nvPr/>
        </p:nvSpPr>
        <p:spPr>
          <a:xfrm>
            <a:off x="2314575" y="6143625"/>
            <a:ext cx="7953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87D5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87D57"/>
                </a:solidFill>
                <a:latin typeface="Noto Sans CJK KR"/>
                <a:ea typeface="Noto Sans CJK KR"/>
                <a:cs typeface="Noto Sans CJK KR"/>
              </a:rPr>
              <a:t>사전 확인: Agent 온라인 / 버전 호환 / 프로파일 고정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FDF75DC-62B1-43E0-906A-17E8AB3507FF}"/>
              </a:ext>
            </a:extLst>
          </p:cNvPr>
          <p:cNvSpPr>
            <a:spLocks noGrp="1"/>
          </p:cNvSpPr>
          <p:nvPr/>
        </p:nvSpPr>
        <p:spPr>
          <a:xfrm>
            <a:off x="2314575" y="6772275"/>
            <a:ext cx="2200275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점검 요청">
            <a:extLst>
              <a:ext uri="{FF2B5EF4-FFF2-40B4-BE49-F238E27FC236}">
                <a16:creationId xmlns:a16="http://schemas.microsoft.com/office/drawing/2014/main" id="{96BA186E-2E4B-47C9-AE33-39557FC9AB9C}"/>
              </a:ext>
            </a:extLst>
          </p:cNvPr>
          <p:cNvSpPr>
            <a:spLocks noGrp="1"/>
          </p:cNvSpPr>
          <p:nvPr/>
        </p:nvSpPr>
        <p:spPr>
          <a:xfrm>
            <a:off x="2390775" y="6838950"/>
            <a:ext cx="2047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점검 요청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CCE2E4D-542A-4842-B43D-BBBE2E534764}"/>
              </a:ext>
            </a:extLst>
          </p:cNvPr>
          <p:cNvSpPr>
            <a:spLocks noGrp="1"/>
          </p:cNvSpPr>
          <p:nvPr/>
        </p:nvSpPr>
        <p:spPr>
          <a:xfrm>
            <a:off x="4705350" y="6772275"/>
            <a:ext cx="1381125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취소">
            <a:extLst>
              <a:ext uri="{FF2B5EF4-FFF2-40B4-BE49-F238E27FC236}">
                <a16:creationId xmlns:a16="http://schemas.microsoft.com/office/drawing/2014/main" id="{A18312BE-C945-4DF9-ADCE-8F29061D08ED}"/>
              </a:ext>
            </a:extLst>
          </p:cNvPr>
          <p:cNvSpPr>
            <a:spLocks noGrp="1"/>
          </p:cNvSpPr>
          <p:nvPr/>
        </p:nvSpPr>
        <p:spPr>
          <a:xfrm>
            <a:off x="4781550" y="6838950"/>
            <a:ext cx="12287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취소</a:t>
            </a:r>
          </a:p>
        </p:txBody>
      </p:sp>
      <p:sp>
        <p:nvSpPr>
          <p:cNvPr id="34" name="선택한 프로파일과 항목 목록을 작업 생성 시 스냅샷으로 저장">
            <a:extLst>
              <a:ext uri="{FF2B5EF4-FFF2-40B4-BE49-F238E27FC236}">
                <a16:creationId xmlns:a16="http://schemas.microsoft.com/office/drawing/2014/main" id="{C6027F96-F920-4F3F-9F5B-1069170B4A6A}"/>
              </a:ext>
            </a:extLst>
          </p:cNvPr>
          <p:cNvSpPr>
            <a:spLocks noGrp="1"/>
          </p:cNvSpPr>
          <p:nvPr/>
        </p:nvSpPr>
        <p:spPr>
          <a:xfrm>
            <a:off x="2314575" y="7372350"/>
            <a:ext cx="79533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선택한 프로파일과 항목 목록을 작업 생성 시 스냅샷으로 저장</a:t>
            </a:r>
          </a:p>
        </p:txBody>
      </p:sp>
      <p:sp>
        <p:nvSpPr>
          <p:cNvPr id="35" name="실행 제한">
            <a:extLst>
              <a:ext uri="{FF2B5EF4-FFF2-40B4-BE49-F238E27FC236}">
                <a16:creationId xmlns:a16="http://schemas.microsoft.com/office/drawing/2014/main" id="{D08D43FE-B219-4875-B161-895E81E03279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실행 제한</a:t>
            </a:r>
          </a:p>
        </p:txBody>
      </p:sp>
      <p:sp>
        <p:nvSpPr>
          <p:cNvPr id="36" name="미등록·오프라인·버전 불일치·중복 변경 작업이 있으면 사유와 함께 차단합니다.">
            <a:extLst>
              <a:ext uri="{FF2B5EF4-FFF2-40B4-BE49-F238E27FC236}">
                <a16:creationId xmlns:a16="http://schemas.microsoft.com/office/drawing/2014/main" id="{92C23F8D-C0C7-4D4A-9FE9-D06744496770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미등록·오프라인·버전 불일치·중복 변경 작업이 있으면 사유와 함께 차단합니다.</a:t>
            </a:r>
          </a:p>
        </p:txBody>
      </p:sp>
      <p:sp>
        <p:nvSpPr>
          <p:cNvPr id="37" name="범위 계산">
            <a:extLst>
              <a:ext uri="{FF2B5EF4-FFF2-40B4-BE49-F238E27FC236}">
                <a16:creationId xmlns:a16="http://schemas.microsoft.com/office/drawing/2014/main" id="{9585630A-191E-491A-A4E3-41E5A86E3B95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범위 계산</a:t>
            </a:r>
          </a:p>
        </p:txBody>
      </p:sp>
      <p:sp>
        <p:nvSpPr>
          <p:cNvPr id="38" name="Unix 전체는 67개, Windows 전체는 64개입니다. 부분 점검은 선택 수가 분모입">
            <a:extLst>
              <a:ext uri="{FF2B5EF4-FFF2-40B4-BE49-F238E27FC236}">
                <a16:creationId xmlns:a16="http://schemas.microsoft.com/office/drawing/2014/main" id="{E9D39473-0E3B-4D91-8AAA-F46B829E97DE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Unix 전체는 67개, Windows 전체는 64개입니다. 부분 점검은 선택 수가 분모입니다.</a:t>
            </a:r>
          </a:p>
        </p:txBody>
      </p:sp>
      <p:sp>
        <p:nvSpPr>
          <p:cNvPr id="39" name="응답·이동">
            <a:extLst>
              <a:ext uri="{FF2B5EF4-FFF2-40B4-BE49-F238E27FC236}">
                <a16:creationId xmlns:a16="http://schemas.microsoft.com/office/drawing/2014/main" id="{258BC27D-CFE0-42D6-BB80-924211BA3FD8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응답·이동</a:t>
            </a:r>
          </a:p>
        </p:txBody>
      </p:sp>
      <p:sp>
        <p:nvSpPr>
          <p:cNvPr id="40" name="202 Accepted와 job_id를 받으면 UI-05로 이동해 진행률을 조회합니다.">
            <a:extLst>
              <a:ext uri="{FF2B5EF4-FFF2-40B4-BE49-F238E27FC236}">
                <a16:creationId xmlns:a16="http://schemas.microsoft.com/office/drawing/2014/main" id="{1424B4CB-E88A-4722-BBCE-C1882BE67D5C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202 Accepted와 job_id를 받으면 UI-05로 이동해 진행률을 조회합니다.</a:t>
            </a:r>
          </a:p>
        </p:txBody>
      </p:sp>
      <p:sp>
        <p:nvSpPr>
          <p:cNvPr id="41" name="API 연결">
            <a:extLst>
              <a:ext uri="{FF2B5EF4-FFF2-40B4-BE49-F238E27FC236}">
                <a16:creationId xmlns:a16="http://schemas.microsoft.com/office/drawing/2014/main" id="{9B1478DE-74DD-4B7C-A15D-3F969A5C84B1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42" name="POST /api/v2/jobs&#10;action: CHECK&#10;server_ids, profil">
            <a:extLst>
              <a:ext uri="{FF2B5EF4-FFF2-40B4-BE49-F238E27FC236}">
                <a16:creationId xmlns:a16="http://schemas.microsoft.com/office/drawing/2014/main" id="{D6B1A02E-707B-49CE-B58E-575E5F36489B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/api/v2/jobs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action: CHECK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server_ids, profile_id, scan_scope</a:t>
            </a:r>
          </a:p>
        </p:txBody>
      </p:sp>
    </p:spTree>
    <p:extLst>
      <p:ext uri="{BB962C8B-B14F-4D97-AF65-F5344CB8AC3E}">
        <p14:creationId xmlns:p14="http://schemas.microsoft.com/office/powerpoint/2010/main" val="129904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UI-05  점검 진행률과 결과 목록">
            <a:extLst>
              <a:ext uri="{FF2B5EF4-FFF2-40B4-BE49-F238E27FC236}">
                <a16:creationId xmlns:a16="http://schemas.microsoft.com/office/drawing/2014/main" id="{D20B1942-E007-4A1D-93B4-849E2210026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UI-05  점검 진행률과 결과 목록</a:t>
            </a:r>
          </a:p>
        </p:txBody>
      </p:sp>
      <p:sp>
        <p:nvSpPr>
          <p:cNvPr id="2" name="시연 데이터 예시 · 필터와 선택 결과 수를 같은 화면에 표시">
            <a:extLst>
              <a:ext uri="{FF2B5EF4-FFF2-40B4-BE49-F238E27FC236}">
                <a16:creationId xmlns:a16="http://schemas.microsoft.com/office/drawing/2014/main" id="{A62C2697-B4D9-4F79-909B-D4F8DC1C4EC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시연 데이터 예시 · 필터와 선택 결과 수를 같은 화면에 표시</a:t>
            </a:r>
          </a:p>
        </p:txBody>
      </p:sp>
      <p:sp>
        <p:nvSpPr>
          <p:cNvPr id="3" name="FR-07~10  ·  통합 설계안 v0.3">
            <a:extLst>
              <a:ext uri="{FF2B5EF4-FFF2-40B4-BE49-F238E27FC236}">
                <a16:creationId xmlns:a16="http://schemas.microsoft.com/office/drawing/2014/main" id="{34D759FC-A420-4736-8938-75145B198236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FR-07~10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370858-0B67-47C0-BB6C-4467C5ED6D96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CD364B-BCDA-4F20-B137-4ADADD8F1172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51067E0D-32B4-4DB9-8695-C68C2D618D5A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191C3858-D679-4CE5-A76F-16AB14FF3A3E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E07659-5AEA-441F-9ECF-AAE4AF613AC9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B249C732-451C-456B-A28E-EE813B115F54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DF0FE4FD-0EA3-4748-9BB5-9905D6F59BBE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85EDAC51-2900-4456-9BBE-D25460425F84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FF1089-73E9-4CA7-8848-CB2F293C9376}"/>
              </a:ext>
            </a:extLst>
          </p:cNvPr>
          <p:cNvSpPr>
            <a:spLocks noGrp="1"/>
          </p:cNvSpPr>
          <p:nvPr/>
        </p:nvSpPr>
        <p:spPr>
          <a:xfrm>
            <a:off x="695325" y="39528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점검 결과">
            <a:extLst>
              <a:ext uri="{FF2B5EF4-FFF2-40B4-BE49-F238E27FC236}">
                <a16:creationId xmlns:a16="http://schemas.microsoft.com/office/drawing/2014/main" id="{65552AC1-D4ED-40B1-8A62-924F06B3AC11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8D1596EF-9440-4337-BB04-8222C83A9304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CBB10843-A148-423A-B08F-EC4C12251C52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A9270096-4F67-4E44-978F-29C013C89D54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8FFCED2C-13FE-4CCE-A221-CD6EAB7AFC9A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F944AE09-5E78-48EE-BE74-F1E5706610CD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rocky-web-01  점검 결과">
            <a:extLst>
              <a:ext uri="{FF2B5EF4-FFF2-40B4-BE49-F238E27FC236}">
                <a16:creationId xmlns:a16="http://schemas.microsoft.com/office/drawing/2014/main" id="{11BBB0DA-B540-4D2B-B692-F397FCDAB445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rocky-web-01  점검 결과</a:t>
            </a:r>
          </a:p>
        </p:txBody>
      </p:sp>
      <p:sp>
        <p:nvSpPr>
          <p:cNvPr id="21" name="항목 처리 67 / 67    양호 42  취약 12  NA 10  불가 2  대기 1">
            <a:extLst>
              <a:ext uri="{FF2B5EF4-FFF2-40B4-BE49-F238E27FC236}">
                <a16:creationId xmlns:a16="http://schemas.microsoft.com/office/drawing/2014/main" id="{A08FD1E8-6B2E-418F-8CA3-216F416F9DD8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항목 처리 67 / 67    양호 42  취약 12  NA 10  불가 2  대기 1</a:t>
            </a:r>
          </a:p>
        </p:txBody>
      </p:sp>
      <p:sp>
        <p:nvSpPr>
          <p:cNvPr id="22" name="수동 확인 완료 0 / 1 (0%)">
            <a:extLst>
              <a:ext uri="{FF2B5EF4-FFF2-40B4-BE49-F238E27FC236}">
                <a16:creationId xmlns:a16="http://schemas.microsoft.com/office/drawing/2014/main" id="{849634E0-03A8-45E9-BEAB-A805005750F5}"/>
              </a:ext>
            </a:extLst>
          </p:cNvPr>
          <p:cNvSpPr>
            <a:spLocks noGrp="1"/>
          </p:cNvSpPr>
          <p:nvPr/>
        </p:nvSpPr>
        <p:spPr>
          <a:xfrm>
            <a:off x="2314575" y="3467100"/>
            <a:ext cx="79533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rPr>
              <a:t>수동 확인 완료 0 / 1 (0%)</a:t>
            </a:r>
          </a:p>
        </p:txBody>
      </p:sp>
      <p:sp>
        <p:nvSpPr>
          <p:cNvPr id="23" name="[상태: 전체]  [영역: 전체]  [중요도: 전체]  [KISA 코드 검색]">
            <a:extLst>
              <a:ext uri="{FF2B5EF4-FFF2-40B4-BE49-F238E27FC236}">
                <a16:creationId xmlns:a16="http://schemas.microsoft.com/office/drawing/2014/main" id="{C8CF7496-D8A6-4CE1-B63B-F99687E21267}"/>
              </a:ext>
            </a:extLst>
          </p:cNvPr>
          <p:cNvSpPr>
            <a:spLocks noGrp="1"/>
          </p:cNvSpPr>
          <p:nvPr/>
        </p:nvSpPr>
        <p:spPr>
          <a:xfrm>
            <a:off x="2314575" y="3781425"/>
            <a:ext cx="795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[상태: 전체]  [영역: 전체]  [중요도: 전체]  [KISA 코드 검색]</a:t>
            </a:r>
          </a:p>
        </p:txBody>
      </p:sp>
      <p:graphicFrame>
        <p:nvGraphicFramePr>
          <p:cNvPr id="59" name="표 58"/>
          <p:cNvGraphicFramePr/>
          <p:nvPr/>
        </p:nvGraphicFramePr>
        <p:xfrm>
          <a:off x="2314575" y="4314825"/>
          <a:ext cx="7953375" cy="24479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58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코드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항목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중요도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판정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분류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root 원격 접속 제한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U-16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passwd 소유자·권한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양호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NFS 서비스 구동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해당없음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U-64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보안 패치 적용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대기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U-64: 수동 확인 대기 / 최종 판정 없음 / 근거 확인">
            <a:extLst>
              <a:ext uri="{FF2B5EF4-FFF2-40B4-BE49-F238E27FC236}">
                <a16:creationId xmlns:a16="http://schemas.microsoft.com/office/drawing/2014/main" id="{6F053E31-66C8-4B9B-978C-4A5C4566E5BC}"/>
              </a:ext>
            </a:extLst>
          </p:cNvPr>
          <p:cNvSpPr>
            <a:spLocks noGrp="1"/>
          </p:cNvSpPr>
          <p:nvPr/>
        </p:nvSpPr>
        <p:spPr>
          <a:xfrm>
            <a:off x="2314575" y="6819900"/>
            <a:ext cx="7953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rPr>
              <a:t>U-64: 수동 확인 대기 / 최종 판정 없음 / 근거 확인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6027BF-FA78-4935-B382-ED0D25B932BA}"/>
              </a:ext>
            </a:extLst>
          </p:cNvPr>
          <p:cNvSpPr>
            <a:spLocks noGrp="1"/>
          </p:cNvSpPr>
          <p:nvPr/>
        </p:nvSpPr>
        <p:spPr>
          <a:xfrm>
            <a:off x="2314575" y="7258050"/>
            <a:ext cx="2571750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선택 취약점 조치">
            <a:extLst>
              <a:ext uri="{FF2B5EF4-FFF2-40B4-BE49-F238E27FC236}">
                <a16:creationId xmlns:a16="http://schemas.microsoft.com/office/drawing/2014/main" id="{A792C40A-A1B6-48C8-9775-340384A50ADC}"/>
              </a:ext>
            </a:extLst>
          </p:cNvPr>
          <p:cNvSpPr>
            <a:spLocks noGrp="1"/>
          </p:cNvSpPr>
          <p:nvPr/>
        </p:nvSpPr>
        <p:spPr>
          <a:xfrm>
            <a:off x="2390775" y="7324725"/>
            <a:ext cx="2419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선택 취약점 조치</a:t>
            </a:r>
          </a:p>
        </p:txBody>
      </p:sp>
      <p:sp>
        <p:nvSpPr>
          <p:cNvPr id="28" name="조회 조건">
            <a:extLst>
              <a:ext uri="{FF2B5EF4-FFF2-40B4-BE49-F238E27FC236}">
                <a16:creationId xmlns:a16="http://schemas.microsoft.com/office/drawing/2014/main" id="{CD35E7D4-0352-4801-BF4D-E2513D9575DD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조회 조건</a:t>
            </a:r>
          </a:p>
        </p:txBody>
      </p:sp>
      <p:sp>
        <p:nvSpPr>
          <p:cNvPr id="29" name="OS·영역·중요도·판정·코드 필터를 조합하고 페이지 이동에도 유지합니다.">
            <a:extLst>
              <a:ext uri="{FF2B5EF4-FFF2-40B4-BE49-F238E27FC236}">
                <a16:creationId xmlns:a16="http://schemas.microsoft.com/office/drawing/2014/main" id="{96F581F2-33CC-4E41-9925-1AF538FBC393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OS·영역·중요도·판정·코드 필터를 조합하고 페이지 이동에도 유지합니다.</a:t>
            </a:r>
          </a:p>
        </p:txBody>
      </p:sp>
      <p:sp>
        <p:nvSpPr>
          <p:cNvPr id="30" name="상세 이동">
            <a:extLst>
              <a:ext uri="{FF2B5EF4-FFF2-40B4-BE49-F238E27FC236}">
                <a16:creationId xmlns:a16="http://schemas.microsoft.com/office/drawing/2014/main" id="{3182D503-B3F4-40E1-9092-2496C2405EA0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상세 이동</a:t>
            </a:r>
          </a:p>
        </p:txBody>
      </p:sp>
      <p:sp>
        <p:nvSpPr>
          <p:cNvPr id="31" name="행 클릭 시 UI-06에서 현재값·증적·권고 기준을 확인합니다.">
            <a:extLst>
              <a:ext uri="{FF2B5EF4-FFF2-40B4-BE49-F238E27FC236}">
                <a16:creationId xmlns:a16="http://schemas.microsoft.com/office/drawing/2014/main" id="{FFE62A2B-AE07-479D-84C5-BF8DBEFB33E3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행 클릭 시 UI-06에서 현재값·증적·권고 기준을 확인합니다.</a:t>
            </a:r>
          </a:p>
        </p:txBody>
      </p:sp>
      <p:sp>
        <p:nvSpPr>
          <p:cNvPr id="32" name="진행률 해석">
            <a:extLst>
              <a:ext uri="{FF2B5EF4-FFF2-40B4-BE49-F238E27FC236}">
                <a16:creationId xmlns:a16="http://schemas.microsoft.com/office/drawing/2014/main" id="{8F522EF7-4096-4B8F-BB1E-252DA4529DF2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진행률 해석</a:t>
            </a:r>
          </a:p>
        </p:txBody>
      </p:sp>
      <p:sp>
        <p:nvSpPr>
          <p:cNvPr id="33" name="처리 100%와 모든 판정 확정은 다를 수 있습니다. 수동 확인 대기 수를 따로 표시합니다">
            <a:extLst>
              <a:ext uri="{FF2B5EF4-FFF2-40B4-BE49-F238E27FC236}">
                <a16:creationId xmlns:a16="http://schemas.microsoft.com/office/drawing/2014/main" id="{6A5D153A-49F7-4BBB-974C-046EBECBD022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처리 100%와 모든 판정 확정은 다를 수 있습니다. 수동 확인 대기 수를 따로 표시합니다.</a:t>
            </a:r>
          </a:p>
        </p:txBody>
      </p:sp>
      <p:sp>
        <p:nvSpPr>
          <p:cNvPr id="34" name="API 연결">
            <a:extLst>
              <a:ext uri="{FF2B5EF4-FFF2-40B4-BE49-F238E27FC236}">
                <a16:creationId xmlns:a16="http://schemas.microsoft.com/office/drawing/2014/main" id="{B5468FB6-42BB-4DCC-BBE5-0B397CE91341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5" name="GET /api/v2/jobs/{id}&#10;GET /api/v2/results&#10;필터 + cur">
            <a:extLst>
              <a:ext uri="{FF2B5EF4-FFF2-40B4-BE49-F238E27FC236}">
                <a16:creationId xmlns:a16="http://schemas.microsoft.com/office/drawing/2014/main" id="{9795FE40-D39B-4E9B-BEFD-A726C95A8191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/api/v2/jobs/{id}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/api/v2/results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필터 + cursor + limit</a:t>
            </a:r>
          </a:p>
        </p:txBody>
      </p:sp>
    </p:spTree>
    <p:extLst>
      <p:ext uri="{BB962C8B-B14F-4D97-AF65-F5344CB8AC3E}">
        <p14:creationId xmlns:p14="http://schemas.microsoft.com/office/powerpoint/2010/main" val="1389621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UI-06  취약점 상세와 증적·AI 설명">
            <a:extLst>
              <a:ext uri="{FF2B5EF4-FFF2-40B4-BE49-F238E27FC236}">
                <a16:creationId xmlns:a16="http://schemas.microsoft.com/office/drawing/2014/main" id="{D075CF05-7BCD-4A08-9844-375F712C4FA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UI-06  취약점 상세와 증적·AI 설명</a:t>
            </a:r>
          </a:p>
        </p:txBody>
      </p:sp>
      <p:sp>
        <p:nvSpPr>
          <p:cNvPr id="2" name="판정 근거와 권고 정보를 구분하고 증적은 재현 가능한 형태로 표시">
            <a:extLst>
              <a:ext uri="{FF2B5EF4-FFF2-40B4-BE49-F238E27FC236}">
                <a16:creationId xmlns:a16="http://schemas.microsoft.com/office/drawing/2014/main" id="{5379367C-DF6B-4CC2-907A-B754A0A39C5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판정 근거와 권고 정보를 구분하고 증적은 재현 가능한 형태로 표시</a:t>
            </a:r>
          </a:p>
        </p:txBody>
      </p:sp>
      <p:sp>
        <p:nvSpPr>
          <p:cNvPr id="3" name="FR-08~09, FR-21~22, NFR-05  ·  통합 설계안 v0.3">
            <a:extLst>
              <a:ext uri="{FF2B5EF4-FFF2-40B4-BE49-F238E27FC236}">
                <a16:creationId xmlns:a16="http://schemas.microsoft.com/office/drawing/2014/main" id="{72F1FAA3-8470-4FE3-AF6B-908AFDB180FF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FR-08~09, FR-21~22, NFR-05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058035-A4FE-4523-AE1C-E3E7E088A528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63A837-F9E2-44B8-98CF-DC905755CF7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4BD7985E-7DC4-4CBD-9287-387BF2D9DEFC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B860C17C-5CB6-42B0-BAAD-C898595A720E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CF7E9C-664A-4454-8B1A-F2DE3D3BD800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97467E84-4390-4937-94DA-3304A01316BD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0A98D2C5-621D-4A3B-992C-0DCFCBCA2773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3D8CC689-04B5-4E84-827B-275F3038F464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1293EE-9CF3-4681-86D3-00E992870C76}"/>
              </a:ext>
            </a:extLst>
          </p:cNvPr>
          <p:cNvSpPr>
            <a:spLocks noGrp="1"/>
          </p:cNvSpPr>
          <p:nvPr/>
        </p:nvSpPr>
        <p:spPr>
          <a:xfrm>
            <a:off x="695325" y="39528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점검 결과">
            <a:extLst>
              <a:ext uri="{FF2B5EF4-FFF2-40B4-BE49-F238E27FC236}">
                <a16:creationId xmlns:a16="http://schemas.microsoft.com/office/drawing/2014/main" id="{042BC078-7F4C-480E-AA64-06E0F444331E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F9D9BADD-29BC-4488-AD6B-1288310ACBDB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39E46A32-FD9E-4A39-9681-EE8079B7D52F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8D36504E-A4B3-42A1-986B-3B160F0FD0C9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D5DDCBCD-D0AB-4A21-A3B4-D3DC3222A0EC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B249997B-8616-4774-8B94-5F2E29F4C725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U-01  root 계정 원격 접속 제한">
            <a:extLst>
              <a:ext uri="{FF2B5EF4-FFF2-40B4-BE49-F238E27FC236}">
                <a16:creationId xmlns:a16="http://schemas.microsoft.com/office/drawing/2014/main" id="{A3ED58DA-55BB-49E5-9ED6-80BA770EFCF4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U-01  root 계정 원격 접속 제한</a:t>
            </a:r>
          </a:p>
        </p:txBody>
      </p:sp>
      <p:sp>
        <p:nvSpPr>
          <p:cNvPr id="21" name="취약   /   중요도 상   /   승인 후 조치">
            <a:extLst>
              <a:ext uri="{FF2B5EF4-FFF2-40B4-BE49-F238E27FC236}">
                <a16:creationId xmlns:a16="http://schemas.microsoft.com/office/drawing/2014/main" id="{DA06693B-5BAA-495F-B237-81AE79D122C1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B43A3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B43A3E"/>
                </a:solidFill>
                <a:latin typeface="Noto Sans CJK KR"/>
                <a:ea typeface="Noto Sans CJK KR"/>
                <a:cs typeface="Noto Sans CJK KR"/>
              </a:rPr>
              <a:t>취약   /   중요도 상   /   승인 후 조치</a:t>
            </a:r>
          </a:p>
        </p:txBody>
      </p:sp>
      <p:graphicFrame>
        <p:nvGraphicFramePr>
          <p:cNvPr id="59" name="표 58"/>
          <p:cNvGraphicFramePr/>
          <p:nvPr/>
        </p:nvGraphicFramePr>
        <p:xfrm>
          <a:off x="2314575" y="3600450"/>
          <a:ext cx="7953375" cy="2457450"/>
        </p:xfrm>
        <a:graphic>
          <a:graphicData uri="http://schemas.openxmlformats.org/drawingml/2006/table">
            <a:tbl>
              <a:tblPr/>
              <a:tblGrid>
                <a:gridCol w="17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내용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현재값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PermitRootLogin 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수집 근거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module U-01 / OpenSSH 유효 설정 조회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경로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/etc/ssh/sshd_config 및 포함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판정 기준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프로파일에서 승인한 root 원격 로그인 제한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시각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2026-09-15 04:20:11Z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AI 설명: root 원격 로그인 허용은 계정 공격 노출을 높일 수 있습니다.">
            <a:extLst>
              <a:ext uri="{FF2B5EF4-FFF2-40B4-BE49-F238E27FC236}">
                <a16:creationId xmlns:a16="http://schemas.microsoft.com/office/drawing/2014/main" id="{043D2494-2358-46A4-AE6E-ACE24FC3CFBE}"/>
              </a:ext>
            </a:extLst>
          </p:cNvPr>
          <p:cNvSpPr>
            <a:spLocks noGrp="1"/>
          </p:cNvSpPr>
          <p:nvPr/>
        </p:nvSpPr>
        <p:spPr>
          <a:xfrm>
            <a:off x="2314575" y="6286500"/>
            <a:ext cx="79533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AI 설명: root 원격 로그인 허용은 계정 공격 노출을 높일 수 있습니다.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24B100-B971-417C-9719-D0EB167767C6}"/>
              </a:ext>
            </a:extLst>
          </p:cNvPr>
          <p:cNvSpPr>
            <a:spLocks noGrp="1"/>
          </p:cNvSpPr>
          <p:nvPr/>
        </p:nvSpPr>
        <p:spPr>
          <a:xfrm>
            <a:off x="2314575" y="7096125"/>
            <a:ext cx="2076450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하드닝 검토">
            <a:extLst>
              <a:ext uri="{FF2B5EF4-FFF2-40B4-BE49-F238E27FC236}">
                <a16:creationId xmlns:a16="http://schemas.microsoft.com/office/drawing/2014/main" id="{212FE5E8-F461-4275-AF12-0B831C158545}"/>
              </a:ext>
            </a:extLst>
          </p:cNvPr>
          <p:cNvSpPr>
            <a:spLocks noGrp="1"/>
          </p:cNvSpPr>
          <p:nvPr/>
        </p:nvSpPr>
        <p:spPr>
          <a:xfrm>
            <a:off x="2390775" y="7162800"/>
            <a:ext cx="1924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하드닝 검토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81988C-AEA8-4D96-912A-16511046DF80}"/>
              </a:ext>
            </a:extLst>
          </p:cNvPr>
          <p:cNvSpPr>
            <a:spLocks noGrp="1"/>
          </p:cNvSpPr>
          <p:nvPr/>
        </p:nvSpPr>
        <p:spPr>
          <a:xfrm>
            <a:off x="4562475" y="7096125"/>
            <a:ext cx="17145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증적 보기">
            <a:extLst>
              <a:ext uri="{FF2B5EF4-FFF2-40B4-BE49-F238E27FC236}">
                <a16:creationId xmlns:a16="http://schemas.microsoft.com/office/drawing/2014/main" id="{20BB6A8E-191F-4193-9A87-317ACC992C19}"/>
              </a:ext>
            </a:extLst>
          </p:cNvPr>
          <p:cNvSpPr>
            <a:spLocks noGrp="1"/>
          </p:cNvSpPr>
          <p:nvPr/>
        </p:nvSpPr>
        <p:spPr>
          <a:xfrm>
            <a:off x="4638675" y="7162800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증적 보기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85EB2A-63DF-4FE0-A28D-69F681EBA1FF}"/>
              </a:ext>
            </a:extLst>
          </p:cNvPr>
          <p:cNvSpPr>
            <a:spLocks noGrp="1"/>
          </p:cNvSpPr>
          <p:nvPr/>
        </p:nvSpPr>
        <p:spPr>
          <a:xfrm>
            <a:off x="6457950" y="7096125"/>
            <a:ext cx="22479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AI 설명 갱신">
            <a:extLst>
              <a:ext uri="{FF2B5EF4-FFF2-40B4-BE49-F238E27FC236}">
                <a16:creationId xmlns:a16="http://schemas.microsoft.com/office/drawing/2014/main" id="{DAF8C686-B96F-436A-A43B-4CCDBBB3CA07}"/>
              </a:ext>
            </a:extLst>
          </p:cNvPr>
          <p:cNvSpPr>
            <a:spLocks noGrp="1"/>
          </p:cNvSpPr>
          <p:nvPr/>
        </p:nvSpPr>
        <p:spPr>
          <a:xfrm>
            <a:off x="6534150" y="7162800"/>
            <a:ext cx="2095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AI 설명 갱신</a:t>
            </a:r>
          </a:p>
        </p:txBody>
      </p:sp>
      <p:sp>
        <p:nvSpPr>
          <p:cNvPr id="30" name="증적 필수값">
            <a:extLst>
              <a:ext uri="{FF2B5EF4-FFF2-40B4-BE49-F238E27FC236}">
                <a16:creationId xmlns:a16="http://schemas.microsoft.com/office/drawing/2014/main" id="{C03D3244-E728-4B78-9A6B-99E2E51DE65C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증적 필수값</a:t>
            </a:r>
          </a:p>
        </p:txBody>
      </p:sp>
      <p:sp>
        <p:nvSpPr>
          <p:cNvPr id="31" name="현재값, 수집 방법·정책 경로, 시각, 오류, 기준·모듈 버전을 연결합니다.">
            <a:extLst>
              <a:ext uri="{FF2B5EF4-FFF2-40B4-BE49-F238E27FC236}">
                <a16:creationId xmlns:a16="http://schemas.microsoft.com/office/drawing/2014/main" id="{14FFB9D5-4700-4DF9-A0AC-D91C7108573D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현재값, 수집 방법·정책 경로, 시각, 오류, 기준·모듈 버전을 연결합니다.</a:t>
            </a:r>
          </a:p>
        </p:txBody>
      </p:sp>
      <p:sp>
        <p:nvSpPr>
          <p:cNvPr id="32" name="승인 전 검토">
            <a:extLst>
              <a:ext uri="{FF2B5EF4-FFF2-40B4-BE49-F238E27FC236}">
                <a16:creationId xmlns:a16="http://schemas.microsoft.com/office/drawing/2014/main" id="{353A824D-0A43-49E8-A2DF-0953165BBFC3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승인 전 검토</a:t>
            </a:r>
          </a:p>
        </p:txBody>
      </p:sp>
      <p:sp>
        <p:nvSpPr>
          <p:cNvPr id="33" name="원격접속 영향과 복구 방법을 UI-07에서 확인합니다.">
            <a:extLst>
              <a:ext uri="{FF2B5EF4-FFF2-40B4-BE49-F238E27FC236}">
                <a16:creationId xmlns:a16="http://schemas.microsoft.com/office/drawing/2014/main" id="{DAA0D52F-63CA-4E33-9AF8-1B08E038C766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원격접속 영향과 복구 방법을 UI-07에서 확인합니다.</a:t>
            </a:r>
          </a:p>
        </p:txBody>
      </p:sp>
      <p:sp>
        <p:nvSpPr>
          <p:cNvPr id="34" name="AI 표시 규칙">
            <a:extLst>
              <a:ext uri="{FF2B5EF4-FFF2-40B4-BE49-F238E27FC236}">
                <a16:creationId xmlns:a16="http://schemas.microsoft.com/office/drawing/2014/main" id="{A0A6A309-93A6-41EF-8E85-D842358068BB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AI 표시 규칙</a:t>
            </a:r>
          </a:p>
        </p:txBody>
      </p:sp>
      <p:sp>
        <p:nvSpPr>
          <p:cNvPr id="35" name="저장된 판정은 바꾸지 않습니다. 근거 코드·생성시각·설명 상태를 표시합니다.">
            <a:extLst>
              <a:ext uri="{FF2B5EF4-FFF2-40B4-BE49-F238E27FC236}">
                <a16:creationId xmlns:a16="http://schemas.microsoft.com/office/drawing/2014/main" id="{8D3BA9CD-0146-4DBD-AD0A-57E6413ECB27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저장된 판정은 바꾸지 않습니다. 근거 코드·생성시각·설명 상태를 표시합니다.</a:t>
            </a:r>
          </a:p>
        </p:txBody>
      </p:sp>
      <p:sp>
        <p:nvSpPr>
          <p:cNvPr id="36" name="API 연결">
            <a:extLst>
              <a:ext uri="{FF2B5EF4-FFF2-40B4-BE49-F238E27FC236}">
                <a16:creationId xmlns:a16="http://schemas.microsoft.com/office/drawing/2014/main" id="{45E6D494-9330-4074-A1B2-015941CBB587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7" name="GET /api/v2/results/{id}&#10;GET /evidence/{id}&#10;POST /">
            <a:extLst>
              <a:ext uri="{FF2B5EF4-FFF2-40B4-BE49-F238E27FC236}">
                <a16:creationId xmlns:a16="http://schemas.microsoft.com/office/drawing/2014/main" id="{DCD9FF7F-D52B-4CEF-AD8C-EF03B26782ED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/api/v2/results/{id}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/evidence/{id}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/results/{id}/explanations</a:t>
            </a:r>
          </a:p>
        </p:txBody>
      </p:sp>
    </p:spTree>
    <p:extLst>
      <p:ext uri="{BB962C8B-B14F-4D97-AF65-F5344CB8AC3E}">
        <p14:creationId xmlns:p14="http://schemas.microsoft.com/office/powerpoint/2010/main" val="184190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UI-07  하드닝 요청과 승인">
            <a:extLst>
              <a:ext uri="{FF2B5EF4-FFF2-40B4-BE49-F238E27FC236}">
                <a16:creationId xmlns:a16="http://schemas.microsoft.com/office/drawing/2014/main" id="{2CD937EF-E6EC-4AC5-A589-5CA9CE4459A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UI-07  하드닝 요청과 승인</a:t>
            </a:r>
          </a:p>
        </p:txBody>
      </p:sp>
      <p:sp>
        <p:nvSpPr>
          <p:cNvPr id="2" name="변경 대상·현재값·적용값·복구 계획을 승인 기록에 고정">
            <a:extLst>
              <a:ext uri="{FF2B5EF4-FFF2-40B4-BE49-F238E27FC236}">
                <a16:creationId xmlns:a16="http://schemas.microsoft.com/office/drawing/2014/main" id="{2DCAC3CD-63FE-46A4-AD47-751AEAB2C40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변경 대상·현재값·적용값·복구 계획을 승인 기록에 고정</a:t>
            </a:r>
          </a:p>
        </p:txBody>
      </p:sp>
      <p:sp>
        <p:nvSpPr>
          <p:cNvPr id="3" name="FR-11~14, NFR-01  ·  통합 설계안 v0.3">
            <a:extLst>
              <a:ext uri="{FF2B5EF4-FFF2-40B4-BE49-F238E27FC236}">
                <a16:creationId xmlns:a16="http://schemas.microsoft.com/office/drawing/2014/main" id="{73B4BE0B-7553-4A80-8FCC-73B36F936C79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FR-11~14, NFR-01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A18430-0B44-41BE-AC56-3C9E4DA7D06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752549-9462-4AF7-B07B-6136856ADD5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423C3B1A-CB33-47A2-BC01-DE24B6F7092D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6407520A-EA38-4012-AC43-2825D5EEC588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5DAA70-19B3-437E-8A8A-8F4868592AFE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6526B9A9-0421-4407-940B-F20513EFC088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F616B20F-FF27-46F6-B4C4-DA1E46EC6A24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42FDE5C9-7B0D-42B0-BAA1-8DACF1328758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7ACDBC1F-007D-4CA3-BBA8-51D32DF93D98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2463F3-EA84-47FE-B511-FDEAFA59282D}"/>
              </a:ext>
            </a:extLst>
          </p:cNvPr>
          <p:cNvSpPr>
            <a:spLocks noGrp="1"/>
          </p:cNvSpPr>
          <p:nvPr/>
        </p:nvSpPr>
        <p:spPr>
          <a:xfrm>
            <a:off x="695325" y="446722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6B16E317-14C2-4B04-AB20-88505049FF5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BFD121DA-55CA-476C-9DBD-F5EF720FC267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96FB110D-FA11-4204-BC7D-6C53FA4CA8E6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A901BC12-ADD3-4834-96D0-AF14A622F038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BCC90861-326A-44C3-A361-967F160032CE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U-01  하드닝 실행 전 확인">
            <a:extLst>
              <a:ext uri="{FF2B5EF4-FFF2-40B4-BE49-F238E27FC236}">
                <a16:creationId xmlns:a16="http://schemas.microsoft.com/office/drawing/2014/main" id="{11AA8764-4EE9-484B-9F05-D5693682A3B4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U-01  하드닝 실행 전 확인</a:t>
            </a:r>
          </a:p>
        </p:txBody>
      </p:sp>
      <p:graphicFrame>
        <p:nvGraphicFramePr>
          <p:cNvPr id="56" name="표 55"/>
          <p:cNvGraphicFramePr/>
          <p:nvPr/>
        </p:nvGraphicFramePr>
        <p:xfrm>
          <a:off x="2314575" y="3057525"/>
          <a:ext cx="7953375" cy="287655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항목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대상 내용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범위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rocky-web-01 / U-01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변경값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PermitRootLogin yes  →  no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예상 영향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root 직접 원격 접속 제한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복구 준비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설정 백업 + 별도 관리 콘솔 접근 확인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조건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유효·현재값 동일·백업 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[선택] 영향도·변경값·복구 방법을 확인했습니다.">
            <a:extLst>
              <a:ext uri="{FF2B5EF4-FFF2-40B4-BE49-F238E27FC236}">
                <a16:creationId xmlns:a16="http://schemas.microsoft.com/office/drawing/2014/main" id="{E23ADAA1-1EA3-44E7-8EEF-8CF993645A4A}"/>
              </a:ext>
            </a:extLst>
          </p:cNvPr>
          <p:cNvSpPr>
            <a:spLocks noGrp="1"/>
          </p:cNvSpPr>
          <p:nvPr/>
        </p:nvSpPr>
        <p:spPr>
          <a:xfrm>
            <a:off x="2314575" y="6162675"/>
            <a:ext cx="79533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[선택] 영향도·변경값·복구 방법을 확인했습니다.</a:t>
            </a:r>
          </a:p>
        </p:txBody>
      </p:sp>
      <p:sp>
        <p:nvSpPr>
          <p:cNvPr id="23" name="승인 사유: 원격접속 정책 반영 / 실행 창: 승인 후 10분">
            <a:extLst>
              <a:ext uri="{FF2B5EF4-FFF2-40B4-BE49-F238E27FC236}">
                <a16:creationId xmlns:a16="http://schemas.microsoft.com/office/drawing/2014/main" id="{36A935AD-42CC-4F62-AD1C-A2C371F0233D}"/>
              </a:ext>
            </a:extLst>
          </p:cNvPr>
          <p:cNvSpPr>
            <a:spLocks noGrp="1"/>
          </p:cNvSpPr>
          <p:nvPr/>
        </p:nvSpPr>
        <p:spPr>
          <a:xfrm>
            <a:off x="2314575" y="6657975"/>
            <a:ext cx="795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승인 사유: 원격접속 정책 반영 / 실행 창: 승인 후 10분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B40DA6-B4F7-409B-8C06-2B1D829D1ADB}"/>
              </a:ext>
            </a:extLst>
          </p:cNvPr>
          <p:cNvSpPr>
            <a:spLocks noGrp="1"/>
          </p:cNvSpPr>
          <p:nvPr/>
        </p:nvSpPr>
        <p:spPr>
          <a:xfrm>
            <a:off x="2314575" y="7229475"/>
            <a:ext cx="2400300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승인 후 실행">
            <a:extLst>
              <a:ext uri="{FF2B5EF4-FFF2-40B4-BE49-F238E27FC236}">
                <a16:creationId xmlns:a16="http://schemas.microsoft.com/office/drawing/2014/main" id="{5C6F74A5-91AB-4DA7-8319-DEA1B142E995}"/>
              </a:ext>
            </a:extLst>
          </p:cNvPr>
          <p:cNvSpPr>
            <a:spLocks noGrp="1"/>
          </p:cNvSpPr>
          <p:nvPr/>
        </p:nvSpPr>
        <p:spPr>
          <a:xfrm>
            <a:off x="2390775" y="7296150"/>
            <a:ext cx="2247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승인 후 실행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751174-AD5F-4B26-B899-EAA43EF23A35}"/>
              </a:ext>
            </a:extLst>
          </p:cNvPr>
          <p:cNvSpPr>
            <a:spLocks noGrp="1"/>
          </p:cNvSpPr>
          <p:nvPr/>
        </p:nvSpPr>
        <p:spPr>
          <a:xfrm>
            <a:off x="4895850" y="7229475"/>
            <a:ext cx="1476375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반려">
            <a:extLst>
              <a:ext uri="{FF2B5EF4-FFF2-40B4-BE49-F238E27FC236}">
                <a16:creationId xmlns:a16="http://schemas.microsoft.com/office/drawing/2014/main" id="{C495782E-2879-4161-A34F-3374CD9C2106}"/>
              </a:ext>
            </a:extLst>
          </p:cNvPr>
          <p:cNvSpPr>
            <a:spLocks noGrp="1"/>
          </p:cNvSpPr>
          <p:nvPr/>
        </p:nvSpPr>
        <p:spPr>
          <a:xfrm>
            <a:off x="4972050" y="7296150"/>
            <a:ext cx="1323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반려</a:t>
            </a:r>
          </a:p>
        </p:txBody>
      </p:sp>
      <p:sp>
        <p:nvSpPr>
          <p:cNvPr id="28" name="3개 조치 분류">
            <a:extLst>
              <a:ext uri="{FF2B5EF4-FFF2-40B4-BE49-F238E27FC236}">
                <a16:creationId xmlns:a16="http://schemas.microsoft.com/office/drawing/2014/main" id="{AB5C515F-5092-4B68-A941-B69AAEC128F4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3개 조치 분류</a:t>
            </a:r>
          </a:p>
        </p:txBody>
      </p:sp>
      <p:sp>
        <p:nvSpPr>
          <p:cNvPr id="29" name="자동: 사전 승인 정책 내 실행&#10;승인 후: 명시적 승인 추가&#10;수동: 실행 버튼 비활성화">
            <a:extLst>
              <a:ext uri="{FF2B5EF4-FFF2-40B4-BE49-F238E27FC236}">
                <a16:creationId xmlns:a16="http://schemas.microsoft.com/office/drawing/2014/main" id="{87664074-A499-4F67-82FB-2F51CCA0FB4A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자동: 사전 승인 정책 내 실행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승인 후: 명시적 승인 추가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수동: 실행 버튼 비활성화</a:t>
            </a:r>
          </a:p>
        </p:txBody>
      </p:sp>
      <p:sp>
        <p:nvSpPr>
          <p:cNvPr id="30" name="변경 직전 재검증">
            <a:extLst>
              <a:ext uri="{FF2B5EF4-FFF2-40B4-BE49-F238E27FC236}">
                <a16:creationId xmlns:a16="http://schemas.microsoft.com/office/drawing/2014/main" id="{A7D0D976-A76F-4AA8-9E27-64C02D4FB6B7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변경 직전 재검증</a:t>
            </a:r>
          </a:p>
        </p:txBody>
      </p:sp>
      <p:sp>
        <p:nvSpPr>
          <p:cNvPr id="31" name="현재값·정책·모듈이 달라지면 기존 승인을 무효화하고 재검토합니다.">
            <a:extLst>
              <a:ext uri="{FF2B5EF4-FFF2-40B4-BE49-F238E27FC236}">
                <a16:creationId xmlns:a16="http://schemas.microsoft.com/office/drawing/2014/main" id="{E37FFAD6-9C02-4AF1-8E35-E5A63CC3A6C0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현재값·정책·모듈이 달라지면 기존 승인을 무효화하고 재검토합니다.</a:t>
            </a:r>
          </a:p>
        </p:txBody>
      </p:sp>
      <p:sp>
        <p:nvSpPr>
          <p:cNvPr id="32" name="거부 조건">
            <a:extLst>
              <a:ext uri="{FF2B5EF4-FFF2-40B4-BE49-F238E27FC236}">
                <a16:creationId xmlns:a16="http://schemas.microsoft.com/office/drawing/2014/main" id="{80E7164B-123E-4161-A94A-3E67E132A242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거부 조건</a:t>
            </a:r>
          </a:p>
        </p:txBody>
      </p:sp>
      <p:sp>
        <p:nvSpPr>
          <p:cNvPr id="33" name="백업 실패, 복구 수단 미확인, 다른 변경 작업, 승인 만료 시 실행하지 않습니다.">
            <a:extLst>
              <a:ext uri="{FF2B5EF4-FFF2-40B4-BE49-F238E27FC236}">
                <a16:creationId xmlns:a16="http://schemas.microsoft.com/office/drawing/2014/main" id="{8AFE24A2-7411-4226-8985-26455833F569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백업 실패, 복구 수단 미확인, 다른 변경 작업, 승인 만료 시 실행하지 않습니다.</a:t>
            </a:r>
          </a:p>
        </p:txBody>
      </p:sp>
      <p:sp>
        <p:nvSpPr>
          <p:cNvPr id="34" name="API 연결">
            <a:extLst>
              <a:ext uri="{FF2B5EF4-FFF2-40B4-BE49-F238E27FC236}">
                <a16:creationId xmlns:a16="http://schemas.microsoft.com/office/drawing/2014/main" id="{583A694A-C38B-46FC-B218-EF61FEF4DC00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5" name="POST /api/v2/jobs&#10;POST /api/v2/jobs/{id}/approvals">
            <a:extLst>
              <a:ext uri="{FF2B5EF4-FFF2-40B4-BE49-F238E27FC236}">
                <a16:creationId xmlns:a16="http://schemas.microsoft.com/office/drawing/2014/main" id="{4AD865C8-E57A-4C82-8043-988688D09712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/api/v2/jobs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/api/v2/jobs/{id}/approvals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승인자·사유·시각은 서버 기록</a:t>
            </a:r>
          </a:p>
        </p:txBody>
      </p:sp>
    </p:spTree>
    <p:extLst>
      <p:ext uri="{BB962C8B-B14F-4D97-AF65-F5344CB8AC3E}">
        <p14:creationId xmlns:p14="http://schemas.microsoft.com/office/powerpoint/2010/main" val="1377529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UI-08  수동 확인 및 수동 조치">
            <a:extLst>
              <a:ext uri="{FF2B5EF4-FFF2-40B4-BE49-F238E27FC236}">
                <a16:creationId xmlns:a16="http://schemas.microsoft.com/office/drawing/2014/main" id="{E8CE0050-F572-498C-A8CE-6D5983CCAEC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UI-08  수동 확인 및 수동 조치</a:t>
            </a:r>
          </a:p>
        </p:txBody>
      </p:sp>
      <p:sp>
        <p:nvSpPr>
          <p:cNvPr id="2" name="업무 필요성·기관 정책처럼 사람의 판단이 필요한 항목을 관리">
            <a:extLst>
              <a:ext uri="{FF2B5EF4-FFF2-40B4-BE49-F238E27FC236}">
                <a16:creationId xmlns:a16="http://schemas.microsoft.com/office/drawing/2014/main" id="{5B58CFEB-D255-4A30-8787-8D7E5CB2A7B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업무 필요성·기관 정책처럼 사람의 판단이 필요한 항목을 관리</a:t>
            </a:r>
          </a:p>
        </p:txBody>
      </p:sp>
      <p:sp>
        <p:nvSpPr>
          <p:cNvPr id="3" name="FR-11, FR-15~17  ·  통합 설계안 v0.3">
            <a:extLst>
              <a:ext uri="{FF2B5EF4-FFF2-40B4-BE49-F238E27FC236}">
                <a16:creationId xmlns:a16="http://schemas.microsoft.com/office/drawing/2014/main" id="{6BBA040B-27E9-4741-8C59-6273B18FB633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FR-11, FR-15~17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CB2BDF-8DFB-47C9-9C29-842015058498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40D4E7-3C6C-4F7D-B382-C82DFF5670A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BAAC7C68-B13A-4B40-9674-BD6E6DD7C84A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9FE98888-8443-460D-AB6A-4B9AB4B7F4B2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A637B6-7554-499E-831B-A62170E070DD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9760844B-82B5-4345-AB5A-5EFF9E5785C0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F6F7D52C-98C2-441F-B77A-16E592148B4C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608ECCD9-2512-48EB-8166-8B4EF7DC91CB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BEE01F82-DDB8-406A-BEC5-FB222EB4045E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CF5D95-CA6C-4E4B-9DAE-608DAD78B409}"/>
              </a:ext>
            </a:extLst>
          </p:cNvPr>
          <p:cNvSpPr>
            <a:spLocks noGrp="1"/>
          </p:cNvSpPr>
          <p:nvPr/>
        </p:nvSpPr>
        <p:spPr>
          <a:xfrm>
            <a:off x="695325" y="446722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조치 관리">
            <a:extLst>
              <a:ext uri="{FF2B5EF4-FFF2-40B4-BE49-F238E27FC236}">
                <a16:creationId xmlns:a16="http://schemas.microsoft.com/office/drawing/2014/main" id="{F109869C-FDC0-48AB-9BA6-313F8FAF71C0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2845C4E0-3F39-4286-AF36-E192F2B7F59E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354B4C05-D752-4A5E-BEAC-D5A7917E08A3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20E4772E-247B-4F22-8015-9EAA2D0FF60A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3C9759FB-32FD-41D7-8500-628F2348B4EA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U-64  수동 조치 관리">
            <a:extLst>
              <a:ext uri="{FF2B5EF4-FFF2-40B4-BE49-F238E27FC236}">
                <a16:creationId xmlns:a16="http://schemas.microsoft.com/office/drawing/2014/main" id="{29BF5C90-897B-4D7A-AE13-BD776900CA55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U-64  수동 조치 관리</a:t>
            </a:r>
          </a:p>
        </p:txBody>
      </p:sp>
      <p:sp>
        <p:nvSpPr>
          <p:cNvPr id="21" name="수동 확인 대기 / 최종 판정 없음 / status: null">
            <a:extLst>
              <a:ext uri="{FF2B5EF4-FFF2-40B4-BE49-F238E27FC236}">
                <a16:creationId xmlns:a16="http://schemas.microsoft.com/office/drawing/2014/main" id="{937D91E3-CC74-4AC8-94DB-32F16FE99FA2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rPr>
              <a:t>수동 확인 대기 / 최종 판정 없음 / status: null</a:t>
            </a:r>
          </a:p>
        </p:txBody>
      </p:sp>
      <p:sp>
        <p:nvSpPr>
          <p:cNvPr id="22" name="확인 절차">
            <a:extLst>
              <a:ext uri="{FF2B5EF4-FFF2-40B4-BE49-F238E27FC236}">
                <a16:creationId xmlns:a16="http://schemas.microsoft.com/office/drawing/2014/main" id="{4F5E7A5F-95AF-41F9-97F9-FB4342069421}"/>
              </a:ext>
            </a:extLst>
          </p:cNvPr>
          <p:cNvSpPr>
            <a:spLocks noGrp="1"/>
          </p:cNvSpPr>
          <p:nvPr/>
        </p:nvSpPr>
        <p:spPr>
          <a:xfrm>
            <a:off x="2314575" y="3829050"/>
            <a:ext cx="7953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확인 절차</a:t>
            </a:r>
          </a:p>
        </p:txBody>
      </p:sp>
      <p:sp>
        <p:nvSpPr>
          <p:cNvPr id="23" name="1. 수집한 OS·패키지 버전 확인&#10;2. 벤더 권고와 기관 패치 정책 대조&#10;3. 변경 일정">
            <a:extLst>
              <a:ext uri="{FF2B5EF4-FFF2-40B4-BE49-F238E27FC236}">
                <a16:creationId xmlns:a16="http://schemas.microsoft.com/office/drawing/2014/main" id="{74835861-D10C-438E-BDFC-B414C05E3D4B}"/>
              </a:ext>
            </a:extLst>
          </p:cNvPr>
          <p:cNvSpPr>
            <a:spLocks noGrp="1"/>
          </p:cNvSpPr>
          <p:nvPr/>
        </p:nvSpPr>
        <p:spPr>
          <a:xfrm>
            <a:off x="2314575" y="4267200"/>
            <a:ext cx="7953375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1. 수집한 OS·패키지 버전 확인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2. 벤더 권고와 기관 패치 정책 대조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3. 변경 일정·업무 영향을 확인하고 조치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4. 조치 근거를 첨부하고 동일 코드 재점검</a:t>
            </a:r>
          </a:p>
        </p:txBody>
      </p:sp>
      <p:sp>
        <p:nvSpPr>
          <p:cNvPr id="24" name="처리 메모 *">
            <a:extLst>
              <a:ext uri="{FF2B5EF4-FFF2-40B4-BE49-F238E27FC236}">
                <a16:creationId xmlns:a16="http://schemas.microsoft.com/office/drawing/2014/main" id="{937AC525-A367-4846-BD66-F4B413B8F645}"/>
              </a:ext>
            </a:extLst>
          </p:cNvPr>
          <p:cNvSpPr>
            <a:spLocks noGrp="1"/>
          </p:cNvSpPr>
          <p:nvPr/>
        </p:nvSpPr>
        <p:spPr>
          <a:xfrm>
            <a:off x="2314575" y="5848350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처리 메모 *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1DB84A2-90F3-403E-A885-039CB42C5FEE}"/>
              </a:ext>
            </a:extLst>
          </p:cNvPr>
          <p:cNvSpPr>
            <a:spLocks noGrp="1"/>
          </p:cNvSpPr>
          <p:nvPr/>
        </p:nvSpPr>
        <p:spPr>
          <a:xfrm>
            <a:off x="2314575" y="6162675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확인 근거와 조치 내용을 입력">
            <a:extLst>
              <a:ext uri="{FF2B5EF4-FFF2-40B4-BE49-F238E27FC236}">
                <a16:creationId xmlns:a16="http://schemas.microsoft.com/office/drawing/2014/main" id="{A8CF32EA-4243-4043-AA5C-3080F545CC25}"/>
              </a:ext>
            </a:extLst>
          </p:cNvPr>
          <p:cNvSpPr>
            <a:spLocks noGrp="1"/>
          </p:cNvSpPr>
          <p:nvPr/>
        </p:nvSpPr>
        <p:spPr>
          <a:xfrm>
            <a:off x="2428875" y="6248400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확인 근거와 조치 내용을 입력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E193457-44AA-4883-BB44-1E5EBB4F9ADF}"/>
              </a:ext>
            </a:extLst>
          </p:cNvPr>
          <p:cNvSpPr>
            <a:spLocks noGrp="1"/>
          </p:cNvSpPr>
          <p:nvPr/>
        </p:nvSpPr>
        <p:spPr>
          <a:xfrm>
            <a:off x="2314575" y="6838950"/>
            <a:ext cx="17335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증적 첨부">
            <a:extLst>
              <a:ext uri="{FF2B5EF4-FFF2-40B4-BE49-F238E27FC236}">
                <a16:creationId xmlns:a16="http://schemas.microsoft.com/office/drawing/2014/main" id="{2D7E2695-AC75-430C-BC49-22D3AB022ABE}"/>
              </a:ext>
            </a:extLst>
          </p:cNvPr>
          <p:cNvSpPr>
            <a:spLocks noGrp="1"/>
          </p:cNvSpPr>
          <p:nvPr/>
        </p:nvSpPr>
        <p:spPr>
          <a:xfrm>
            <a:off x="2390775" y="6905625"/>
            <a:ext cx="15811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증적 첨부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FB444F5-DEBC-4693-BCB5-C029AF1AA5D8}"/>
              </a:ext>
            </a:extLst>
          </p:cNvPr>
          <p:cNvSpPr>
            <a:spLocks noGrp="1"/>
          </p:cNvSpPr>
          <p:nvPr/>
        </p:nvSpPr>
        <p:spPr>
          <a:xfrm>
            <a:off x="4229100" y="6838950"/>
            <a:ext cx="3486150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완료 기록·재점검 요청">
            <a:extLst>
              <a:ext uri="{FF2B5EF4-FFF2-40B4-BE49-F238E27FC236}">
                <a16:creationId xmlns:a16="http://schemas.microsoft.com/office/drawing/2014/main" id="{FBE5FDF9-409D-49EA-BF1F-E7779449B6A3}"/>
              </a:ext>
            </a:extLst>
          </p:cNvPr>
          <p:cNvSpPr>
            <a:spLocks noGrp="1"/>
          </p:cNvSpPr>
          <p:nvPr/>
        </p:nvSpPr>
        <p:spPr>
          <a:xfrm>
            <a:off x="4305300" y="6905625"/>
            <a:ext cx="3333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완료 기록·재점검 요청</a:t>
            </a:r>
          </a:p>
        </p:txBody>
      </p:sp>
      <p:sp>
        <p:nvSpPr>
          <p:cNvPr id="31" name="완료 기록만으로 양호 처리하지 않음. 판정 확정 시 별도 근거·담당자 기록.">
            <a:extLst>
              <a:ext uri="{FF2B5EF4-FFF2-40B4-BE49-F238E27FC236}">
                <a16:creationId xmlns:a16="http://schemas.microsoft.com/office/drawing/2014/main" id="{86DB669E-E316-41F5-B8EA-33D0E3E474EF}"/>
              </a:ext>
            </a:extLst>
          </p:cNvPr>
          <p:cNvSpPr>
            <a:spLocks noGrp="1"/>
          </p:cNvSpPr>
          <p:nvPr/>
        </p:nvSpPr>
        <p:spPr>
          <a:xfrm>
            <a:off x="2314575" y="7486650"/>
            <a:ext cx="79533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완료 기록만으로 양호 처리하지 않음. 판정 확정 시 별도 근거·담당자 기록.</a:t>
            </a:r>
          </a:p>
        </p:txBody>
      </p:sp>
      <p:sp>
        <p:nvSpPr>
          <p:cNvPr id="32" name="두 상태 분리">
            <a:extLst>
              <a:ext uri="{FF2B5EF4-FFF2-40B4-BE49-F238E27FC236}">
                <a16:creationId xmlns:a16="http://schemas.microsoft.com/office/drawing/2014/main" id="{133FE587-6289-4936-9487-EDE4E8965BAE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두 상태 분리</a:t>
            </a:r>
          </a:p>
        </p:txBody>
      </p:sp>
      <p:sp>
        <p:nvSpPr>
          <p:cNvPr id="33" name="수동 조치 업무 상태와 보안 판정 상태를 따로 관리합니다.">
            <a:extLst>
              <a:ext uri="{FF2B5EF4-FFF2-40B4-BE49-F238E27FC236}">
                <a16:creationId xmlns:a16="http://schemas.microsoft.com/office/drawing/2014/main" id="{F86EA4E1-388C-4537-837E-D1495A3B7A9B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수동 조치 업무 상태와 보안 판정 상태를 따로 관리합니다.</a:t>
            </a:r>
          </a:p>
        </p:txBody>
      </p:sp>
      <p:sp>
        <p:nvSpPr>
          <p:cNvPr id="34" name="필수 근거">
            <a:extLst>
              <a:ext uri="{FF2B5EF4-FFF2-40B4-BE49-F238E27FC236}">
                <a16:creationId xmlns:a16="http://schemas.microsoft.com/office/drawing/2014/main" id="{FFBA4076-B56A-467A-B3F8-FC4C1BE4E5DE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필수 근거</a:t>
            </a:r>
          </a:p>
        </p:txBody>
      </p:sp>
      <p:sp>
        <p:nvSpPr>
          <p:cNvPr id="35" name="담당자·처리 시각·메모·증적을 저장합니다. 수동 판정 변경은 변경 이유를 요구합니다.">
            <a:extLst>
              <a:ext uri="{FF2B5EF4-FFF2-40B4-BE49-F238E27FC236}">
                <a16:creationId xmlns:a16="http://schemas.microsoft.com/office/drawing/2014/main" id="{DBA14B68-1958-4D6F-8B1F-3F533B9DCB81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담당자·처리 시각·메모·증적을 저장합니다. 수동 판정 변경은 변경 이유를 요구합니다.</a:t>
            </a:r>
          </a:p>
        </p:txBody>
      </p:sp>
      <p:sp>
        <p:nvSpPr>
          <p:cNvPr id="36" name="재점검">
            <a:extLst>
              <a:ext uri="{FF2B5EF4-FFF2-40B4-BE49-F238E27FC236}">
                <a16:creationId xmlns:a16="http://schemas.microsoft.com/office/drawing/2014/main" id="{BE816B72-48CD-45AC-A73E-0F73F42120CE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재점검</a:t>
            </a:r>
          </a:p>
        </p:txBody>
      </p:sp>
      <p:sp>
        <p:nvSpPr>
          <p:cNvPr id="37" name="자동 판정 불가 항목은 수동 확인 근거를 남겨 최종 판정을 확정합니다.">
            <a:extLst>
              <a:ext uri="{FF2B5EF4-FFF2-40B4-BE49-F238E27FC236}">
                <a16:creationId xmlns:a16="http://schemas.microsoft.com/office/drawing/2014/main" id="{1C39950C-CE32-42AE-B107-EEC7612C93D1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자동 판정 불가 항목은 수동 확인 근거를 남겨 최종 판정을 확정합니다.</a:t>
            </a:r>
          </a:p>
        </p:txBody>
      </p:sp>
      <p:sp>
        <p:nvSpPr>
          <p:cNvPr id="38" name="API 연결">
            <a:extLst>
              <a:ext uri="{FF2B5EF4-FFF2-40B4-BE49-F238E27FC236}">
                <a16:creationId xmlns:a16="http://schemas.microsoft.com/office/drawing/2014/main" id="{8E97C8AB-BAC4-40DE-A422-AF403EF17FBA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9" name="POST /api/v2/manual-actions&#10;POST /results/{id}/rev">
            <a:extLst>
              <a:ext uri="{FF2B5EF4-FFF2-40B4-BE49-F238E27FC236}">
                <a16:creationId xmlns:a16="http://schemas.microsoft.com/office/drawing/2014/main" id="{4852BFC7-6DB2-4611-9433-7EEE7C3DA0FE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/api/v2/manual-actions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/results/{id}/reviews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/jobs  action: RECHECK</a:t>
            </a:r>
          </a:p>
        </p:txBody>
      </p:sp>
    </p:spTree>
    <p:extLst>
      <p:ext uri="{BB962C8B-B14F-4D97-AF65-F5344CB8AC3E}">
        <p14:creationId xmlns:p14="http://schemas.microsoft.com/office/powerpoint/2010/main" val="451264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UI-09  전후 비교와 복구 이력">
            <a:extLst>
              <a:ext uri="{FF2B5EF4-FFF2-40B4-BE49-F238E27FC236}">
                <a16:creationId xmlns:a16="http://schemas.microsoft.com/office/drawing/2014/main" id="{CEFE1AB8-E665-440D-9903-32856A9AF2A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UI-09  전후 비교와 복구 이력</a:t>
            </a:r>
          </a:p>
        </p:txBody>
      </p:sp>
      <p:sp>
        <p:nvSpPr>
          <p:cNvPr id="2" name="같은 서버·코드·기준 버전의 전후 결과를 연결">
            <a:extLst>
              <a:ext uri="{FF2B5EF4-FFF2-40B4-BE49-F238E27FC236}">
                <a16:creationId xmlns:a16="http://schemas.microsoft.com/office/drawing/2014/main" id="{2DAF5376-8E42-462D-8618-584F1B6B42D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같은 서버·코드·기준 버전의 전후 결과를 연결</a:t>
            </a:r>
          </a:p>
        </p:txBody>
      </p:sp>
      <p:sp>
        <p:nvSpPr>
          <p:cNvPr id="3" name="FR-16~18, NFR-06  ·  통합 설계안 v0.3">
            <a:extLst>
              <a:ext uri="{FF2B5EF4-FFF2-40B4-BE49-F238E27FC236}">
                <a16:creationId xmlns:a16="http://schemas.microsoft.com/office/drawing/2014/main" id="{422D2383-74B6-4355-B746-20CAF8D6AF5F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FR-16~18, NFR-06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E45CE1-C5B3-4562-B011-32D36FADEE2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A9EC0A-9A35-4D68-A8D8-15B9E47A313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779315ED-A65E-4331-981D-1AC032198915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9782A00D-5B2F-4F8B-96DB-97D4C5FB9755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030EE5-DC19-4A24-B1EA-D58338654AB0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89531EC1-EE94-4A52-9B15-9FAB23CBBE78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87B903FA-B1A9-4869-BB52-4C8E3CB624F5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08C78386-87BB-4C73-9339-9BF89DEEF008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F61BAC31-20B0-4B1A-BC2C-62334779FC0A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조치 관리">
            <a:extLst>
              <a:ext uri="{FF2B5EF4-FFF2-40B4-BE49-F238E27FC236}">
                <a16:creationId xmlns:a16="http://schemas.microsoft.com/office/drawing/2014/main" id="{A50C8E4B-64BA-4398-A95D-A4782DA8FD99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E04887-99F2-48A4-B59A-76243AF56144}"/>
              </a:ext>
            </a:extLst>
          </p:cNvPr>
          <p:cNvSpPr>
            <a:spLocks noGrp="1"/>
          </p:cNvSpPr>
          <p:nvPr/>
        </p:nvSpPr>
        <p:spPr>
          <a:xfrm>
            <a:off x="695325" y="49815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DB6ACA54-257F-469D-B80A-F9D46DE627B4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1A6D9039-1814-4AC1-B15F-905DF37847DB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B5E1C361-5091-42ED-A17C-C10167786528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D65D0589-0E2E-48E0-A79E-5E794ECCD8E1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하드닝 전후 비교">
            <a:extLst>
              <a:ext uri="{FF2B5EF4-FFF2-40B4-BE49-F238E27FC236}">
                <a16:creationId xmlns:a16="http://schemas.microsoft.com/office/drawing/2014/main" id="{CFBD617E-033D-4E76-B204-14D5CE4FE650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하드닝 전후 비교</a:t>
            </a:r>
          </a:p>
        </p:txBody>
      </p:sp>
      <p:sp>
        <p:nvSpPr>
          <p:cNvPr id="21" name="기준 점검: chk-001    조치: harden-001    재점검: chk-002">
            <a:extLst>
              <a:ext uri="{FF2B5EF4-FFF2-40B4-BE49-F238E27FC236}">
                <a16:creationId xmlns:a16="http://schemas.microsoft.com/office/drawing/2014/main" id="{F02E2C9E-CCC0-4ED8-A17D-52032694F8B3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기준 점검: chk-001    조치: harden-001    재점검: chk-002</a:t>
            </a:r>
          </a:p>
        </p:txBody>
      </p:sp>
      <p:graphicFrame>
        <p:nvGraphicFramePr>
          <p:cNvPr id="58" name="표 57"/>
          <p:cNvGraphicFramePr/>
          <p:nvPr/>
        </p:nvGraphicFramePr>
        <p:xfrm>
          <a:off x="2314575" y="3676650"/>
          <a:ext cx="7953375" cy="2428878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 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변화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양호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+8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-8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해당없음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점검불가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대기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U-01   취약 → 양호    PermitRootLogin yes → no">
            <a:extLst>
              <a:ext uri="{FF2B5EF4-FFF2-40B4-BE49-F238E27FC236}">
                <a16:creationId xmlns:a16="http://schemas.microsoft.com/office/drawing/2014/main" id="{7F44E67A-4F0E-4851-BC0E-E5D0043EC4E2}"/>
              </a:ext>
            </a:extLst>
          </p:cNvPr>
          <p:cNvSpPr>
            <a:spLocks noGrp="1"/>
          </p:cNvSpPr>
          <p:nvPr/>
        </p:nvSpPr>
        <p:spPr>
          <a:xfrm>
            <a:off x="2314575" y="6229350"/>
            <a:ext cx="79533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87D5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87D57"/>
                </a:solidFill>
                <a:latin typeface="Noto Sans CJK KR"/>
                <a:ea typeface="Noto Sans CJK KR"/>
                <a:cs typeface="Noto Sans CJK KR"/>
              </a:rPr>
              <a:t>U-01   취약 → 양호    PermitRootLogin yes → no</a:t>
            </a:r>
          </a:p>
        </p:txBody>
      </p:sp>
      <p:sp>
        <p:nvSpPr>
          <p:cNvPr id="24" name="복구 자료: backup-001    /    상태: 사용 가능    /    복구 후 재">
            <a:extLst>
              <a:ext uri="{FF2B5EF4-FFF2-40B4-BE49-F238E27FC236}">
                <a16:creationId xmlns:a16="http://schemas.microsoft.com/office/drawing/2014/main" id="{4C356E51-3641-4928-96E0-9D1B4938B7A7}"/>
              </a:ext>
            </a:extLst>
          </p:cNvPr>
          <p:cNvSpPr>
            <a:spLocks noGrp="1"/>
          </p:cNvSpPr>
          <p:nvPr/>
        </p:nvSpPr>
        <p:spPr>
          <a:xfrm>
            <a:off x="2314575" y="6696075"/>
            <a:ext cx="79533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복구 자료: backup-001    /    상태: 사용 가능    /    복구 후 재점검 필수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343FB6-FC0C-45D9-BC3E-45AB980F9F6D}"/>
              </a:ext>
            </a:extLst>
          </p:cNvPr>
          <p:cNvSpPr>
            <a:spLocks noGrp="1"/>
          </p:cNvSpPr>
          <p:nvPr/>
        </p:nvSpPr>
        <p:spPr>
          <a:xfrm>
            <a:off x="2314575" y="7229475"/>
            <a:ext cx="1876425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변경 상세">
            <a:extLst>
              <a:ext uri="{FF2B5EF4-FFF2-40B4-BE49-F238E27FC236}">
                <a16:creationId xmlns:a16="http://schemas.microsoft.com/office/drawing/2014/main" id="{51EABFB2-2D21-4232-9F0B-A7C9B3AC140C}"/>
              </a:ext>
            </a:extLst>
          </p:cNvPr>
          <p:cNvSpPr>
            <a:spLocks noGrp="1"/>
          </p:cNvSpPr>
          <p:nvPr/>
        </p:nvSpPr>
        <p:spPr>
          <a:xfrm>
            <a:off x="2390775" y="7296150"/>
            <a:ext cx="17240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변경 상세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C6934F-8E2E-4439-A587-855A1FCB4B06}"/>
              </a:ext>
            </a:extLst>
          </p:cNvPr>
          <p:cNvSpPr>
            <a:spLocks noGrp="1"/>
          </p:cNvSpPr>
          <p:nvPr/>
        </p:nvSpPr>
        <p:spPr>
          <a:xfrm>
            <a:off x="4381500" y="7229475"/>
            <a:ext cx="2314575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복구 요청 검토">
            <a:extLst>
              <a:ext uri="{FF2B5EF4-FFF2-40B4-BE49-F238E27FC236}">
                <a16:creationId xmlns:a16="http://schemas.microsoft.com/office/drawing/2014/main" id="{4AD49090-DE91-47BD-A33F-6C3D0C37A785}"/>
              </a:ext>
            </a:extLst>
          </p:cNvPr>
          <p:cNvSpPr>
            <a:spLocks noGrp="1"/>
          </p:cNvSpPr>
          <p:nvPr/>
        </p:nvSpPr>
        <p:spPr>
          <a:xfrm>
            <a:off x="4457700" y="7296150"/>
            <a:ext cx="21621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복구 요청 검토</a:t>
            </a:r>
          </a:p>
        </p:txBody>
      </p:sp>
      <p:sp>
        <p:nvSpPr>
          <p:cNvPr id="29" name="비교 연결">
            <a:extLst>
              <a:ext uri="{FF2B5EF4-FFF2-40B4-BE49-F238E27FC236}">
                <a16:creationId xmlns:a16="http://schemas.microsoft.com/office/drawing/2014/main" id="{DE1A2BF5-29A6-4681-BB00-2BDDF2761311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비교 연결</a:t>
            </a:r>
          </a:p>
        </p:txBody>
      </p:sp>
      <p:sp>
        <p:nvSpPr>
          <p:cNvPr id="30" name="before_result_id와 after_result_id를 action_record에 ">
            <a:extLst>
              <a:ext uri="{FF2B5EF4-FFF2-40B4-BE49-F238E27FC236}">
                <a16:creationId xmlns:a16="http://schemas.microsoft.com/office/drawing/2014/main" id="{19A47A78-BB64-4B74-B5B8-7127CCCDDD05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before_result_id와 after_result_id를 action_record에 연결합니다.</a:t>
            </a:r>
          </a:p>
        </p:txBody>
      </p:sp>
      <p:sp>
        <p:nvSpPr>
          <p:cNvPr id="31" name="비교 불일치">
            <a:extLst>
              <a:ext uri="{FF2B5EF4-FFF2-40B4-BE49-F238E27FC236}">
                <a16:creationId xmlns:a16="http://schemas.microsoft.com/office/drawing/2014/main" id="{6C21A64D-CB05-45EF-8689-813EDD09107D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비교 불일치</a:t>
            </a:r>
          </a:p>
        </p:txBody>
      </p:sp>
      <p:sp>
        <p:nvSpPr>
          <p:cNvPr id="32" name="OS·기준·모듈 변경을 알리고 동일 조건 비교가 아니면 단순 개선 수치를 경고합니다.">
            <a:extLst>
              <a:ext uri="{FF2B5EF4-FFF2-40B4-BE49-F238E27FC236}">
                <a16:creationId xmlns:a16="http://schemas.microsoft.com/office/drawing/2014/main" id="{AE9AFED4-4760-4C5D-AA4A-41DBD9CDEBFB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OS·기준·모듈 변경을 알리고 동일 조건 비교가 아니면 단순 개선 수치를 경고합니다.</a:t>
            </a:r>
          </a:p>
        </p:txBody>
      </p:sp>
      <p:sp>
        <p:nvSpPr>
          <p:cNvPr id="33" name="복구 조건">
            <a:extLst>
              <a:ext uri="{FF2B5EF4-FFF2-40B4-BE49-F238E27FC236}">
                <a16:creationId xmlns:a16="http://schemas.microsoft.com/office/drawing/2014/main" id="{80A18B18-D097-4B3A-BF88-BF0A69828C25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복구 조건</a:t>
            </a:r>
          </a:p>
        </p:txBody>
      </p:sp>
      <p:sp>
        <p:nvSpPr>
          <p:cNvPr id="34" name="백업 존재·무결성·현재값 충돌을 확인하고 승인 후 복구합니다.">
            <a:extLst>
              <a:ext uri="{FF2B5EF4-FFF2-40B4-BE49-F238E27FC236}">
                <a16:creationId xmlns:a16="http://schemas.microsoft.com/office/drawing/2014/main" id="{5F1D3E0E-1655-4856-BB52-FDE98CFE477A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백업 존재·무결성·현재값 충돌을 확인하고 승인 후 복구합니다.</a:t>
            </a:r>
          </a:p>
        </p:txBody>
      </p:sp>
      <p:sp>
        <p:nvSpPr>
          <p:cNvPr id="35" name="API 연결">
            <a:extLst>
              <a:ext uri="{FF2B5EF4-FFF2-40B4-BE49-F238E27FC236}">
                <a16:creationId xmlns:a16="http://schemas.microsoft.com/office/drawing/2014/main" id="{E592AC1D-3540-4FF0-9016-7567441B64F7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6" name="GET /api/v2/comparisons&#10;POST /api/v2/jobs&#10;action: ">
            <a:extLst>
              <a:ext uri="{FF2B5EF4-FFF2-40B4-BE49-F238E27FC236}">
                <a16:creationId xmlns:a16="http://schemas.microsoft.com/office/drawing/2014/main" id="{9C8414FD-6774-41B7-93E9-E40E707D6200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/api/v2/comparisons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/api/v2/jobs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action: ROLLBACK</a:t>
            </a:r>
          </a:p>
        </p:txBody>
      </p:sp>
    </p:spTree>
    <p:extLst>
      <p:ext uri="{BB962C8B-B14F-4D97-AF65-F5344CB8AC3E}">
        <p14:creationId xmlns:p14="http://schemas.microsoft.com/office/powerpoint/2010/main" val="996629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UI-10  점검 보고서">
            <a:extLst>
              <a:ext uri="{FF2B5EF4-FFF2-40B4-BE49-F238E27FC236}">
                <a16:creationId xmlns:a16="http://schemas.microsoft.com/office/drawing/2014/main" id="{30E97AFB-52E8-4486-AA50-1C4EC239887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UI-10  점검 보고서</a:t>
            </a:r>
          </a:p>
        </p:txBody>
      </p:sp>
      <p:sp>
        <p:nvSpPr>
          <p:cNvPr id="2" name="보고서 종류에 따라 원본 점검 또는 월별 비교 스냅샷을 조회">
            <a:extLst>
              <a:ext uri="{FF2B5EF4-FFF2-40B4-BE49-F238E27FC236}">
                <a16:creationId xmlns:a16="http://schemas.microsoft.com/office/drawing/2014/main" id="{84AF964F-1D21-4A55-8D68-CD3235CA38C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보고서 종류에 따라 원본 점검 또는 월별 비교 스냅샷을 조회</a:t>
            </a:r>
          </a:p>
        </p:txBody>
      </p:sp>
      <p:sp>
        <p:nvSpPr>
          <p:cNvPr id="3" name="FR-19~20, NFR-06  ·  통합 설계안 v0.3">
            <a:extLst>
              <a:ext uri="{FF2B5EF4-FFF2-40B4-BE49-F238E27FC236}">
                <a16:creationId xmlns:a16="http://schemas.microsoft.com/office/drawing/2014/main" id="{0F04AE54-1323-4E3C-B4D1-E19775F4F596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FR-19~20, NFR-06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BF86F2-B03B-4E4C-9E30-C503488687B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FB5439-57BA-4324-B5D4-48C3368B7A8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2F638D51-EAF5-4FBA-918F-09E65A66F2CC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0772E83C-CCC6-4787-8849-33FD7FE08D5F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C80D9F-47B3-44A7-88FB-D5FD20F3BD34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BB96852C-AA1C-4ACA-9818-FCA6EBF370DE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4FF4E9BF-4046-4492-8460-2F8F3E354F0A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1CEE72A7-8A0C-420D-B454-5D803C7D6513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B11B8C2B-B128-4904-B4BB-C4EB54B18A34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조치 관리">
            <a:extLst>
              <a:ext uri="{FF2B5EF4-FFF2-40B4-BE49-F238E27FC236}">
                <a16:creationId xmlns:a16="http://schemas.microsoft.com/office/drawing/2014/main" id="{BE8827A6-9F16-4FDB-B8A7-9B1A7084D520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9F93E4-F809-4F50-921F-BAFF4B4F66C3}"/>
              </a:ext>
            </a:extLst>
          </p:cNvPr>
          <p:cNvSpPr>
            <a:spLocks noGrp="1"/>
          </p:cNvSpPr>
          <p:nvPr/>
        </p:nvSpPr>
        <p:spPr>
          <a:xfrm>
            <a:off x="695325" y="49815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이력·보고서">
            <a:extLst>
              <a:ext uri="{FF2B5EF4-FFF2-40B4-BE49-F238E27FC236}">
                <a16:creationId xmlns:a16="http://schemas.microsoft.com/office/drawing/2014/main" id="{AE2CE34D-594B-4505-B7D4-029BDE51E763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A33BF7E1-FB96-4DBA-BBD7-0B48863A619B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CB2A010B-C723-453A-AC7E-451A5E1FCC01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A61CE27C-348A-4EF5-A6AD-EC45CC904B00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점검 결과 보고서">
            <a:extLst>
              <a:ext uri="{FF2B5EF4-FFF2-40B4-BE49-F238E27FC236}">
                <a16:creationId xmlns:a16="http://schemas.microsoft.com/office/drawing/2014/main" id="{AE15132B-B95C-4662-8D3B-37C4507BB814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점검 결과 보고서</a:t>
            </a:r>
          </a:p>
        </p:txBody>
      </p:sp>
      <p:sp>
        <p:nvSpPr>
          <p:cNvPr id="21" name="rocky-web-01 / run-full-09 / 기준 kisa-2026.1">
            <a:extLst>
              <a:ext uri="{FF2B5EF4-FFF2-40B4-BE49-F238E27FC236}">
                <a16:creationId xmlns:a16="http://schemas.microsoft.com/office/drawing/2014/main" id="{7F597D57-5591-4A06-BE04-70F95BF6CF51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rocky-web-01 / run-full-09 / 기준 kisa-2026.1</a:t>
            </a:r>
          </a:p>
        </p:txBody>
      </p:sp>
      <p:graphicFrame>
        <p:nvGraphicFramePr>
          <p:cNvPr id="54" name="표 53"/>
          <p:cNvGraphicFramePr/>
          <p:nvPr/>
        </p:nvGraphicFramePr>
        <p:xfrm>
          <a:off x="2314575" y="3695700"/>
          <a:ext cx="7953375" cy="3048003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영역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양호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NA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불가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대기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17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패치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합계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최종 판정 66개 + 수동 대기 1개 = 예정 항목 67개">
            <a:extLst>
              <a:ext uri="{FF2B5EF4-FFF2-40B4-BE49-F238E27FC236}">
                <a16:creationId xmlns:a16="http://schemas.microsoft.com/office/drawing/2014/main" id="{4B5416EB-8F64-48D7-83CD-B52F50979EF4}"/>
              </a:ext>
            </a:extLst>
          </p:cNvPr>
          <p:cNvSpPr>
            <a:spLocks noGrp="1"/>
          </p:cNvSpPr>
          <p:nvPr/>
        </p:nvSpPr>
        <p:spPr>
          <a:xfrm>
            <a:off x="2314575" y="6962775"/>
            <a:ext cx="795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최종 판정 66개 + 수동 대기 1개 = 예정 항목 67개</a:t>
            </a:r>
          </a:p>
        </p:txBody>
      </p:sp>
      <p:sp>
        <p:nvSpPr>
          <p:cNvPr id="24" name="월별 보고서: UI-12에서 비교 조건·제외 사유·근거 회차 조회">
            <a:extLst>
              <a:ext uri="{FF2B5EF4-FFF2-40B4-BE49-F238E27FC236}">
                <a16:creationId xmlns:a16="http://schemas.microsoft.com/office/drawing/2014/main" id="{5E60E037-C178-4478-8ED2-C821444334D3}"/>
              </a:ext>
            </a:extLst>
          </p:cNvPr>
          <p:cNvSpPr>
            <a:spLocks noGrp="1"/>
          </p:cNvSpPr>
          <p:nvPr/>
        </p:nvSpPr>
        <p:spPr>
          <a:xfrm>
            <a:off x="2314575" y="7458075"/>
            <a:ext cx="795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보고서: UI-12에서 비교 조건·제외 사유·근거 회차 조회</a:t>
            </a:r>
          </a:p>
        </p:txBody>
      </p:sp>
      <p:sp>
        <p:nvSpPr>
          <p:cNvPr id="25" name="집계 기준">
            <a:extLst>
              <a:ext uri="{FF2B5EF4-FFF2-40B4-BE49-F238E27FC236}">
                <a16:creationId xmlns:a16="http://schemas.microsoft.com/office/drawing/2014/main" id="{884D01A9-3B80-4AEE-B2CD-EB2F9909E5F0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집계 기준</a:t>
            </a:r>
          </a:p>
        </p:txBody>
      </p:sp>
      <p:sp>
        <p:nvSpPr>
          <p:cNvPr id="26" name="최종 4개 판정과 대기·누락을 별도로 합산합니다. 합계 분모를 표시합니다.">
            <a:extLst>
              <a:ext uri="{FF2B5EF4-FFF2-40B4-BE49-F238E27FC236}">
                <a16:creationId xmlns:a16="http://schemas.microsoft.com/office/drawing/2014/main" id="{93368372-E2EC-47C5-8346-1D06273281DC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최종 4개 판정과 대기·누락을 별도로 합산합니다. 합계 분모를 표시합니다.</a:t>
            </a:r>
          </a:p>
        </p:txBody>
      </p:sp>
      <p:sp>
        <p:nvSpPr>
          <p:cNvPr id="27" name="조회 이력">
            <a:extLst>
              <a:ext uri="{FF2B5EF4-FFF2-40B4-BE49-F238E27FC236}">
                <a16:creationId xmlns:a16="http://schemas.microsoft.com/office/drawing/2014/main" id="{DCB34691-49D5-4009-A905-CE40FF94B39F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조회 이력</a:t>
            </a:r>
          </a:p>
        </p:txBody>
      </p:sp>
      <p:sp>
        <p:nvSpPr>
          <p:cNvPr id="28" name="report_snapshot_id로 당시 회차·판정 기록·기준 버전을 고정합니다.">
            <a:extLst>
              <a:ext uri="{FF2B5EF4-FFF2-40B4-BE49-F238E27FC236}">
                <a16:creationId xmlns:a16="http://schemas.microsoft.com/office/drawing/2014/main" id="{1EBD373B-F884-4D5D-9EFC-1DC8768A3876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report_snapshot_id로 당시 회차·판정 기록·기준 버전을 고정합니다.</a:t>
            </a:r>
          </a:p>
        </p:txBody>
      </p:sp>
      <p:sp>
        <p:nvSpPr>
          <p:cNvPr id="29" name="원본 연결">
            <a:extLst>
              <a:ext uri="{FF2B5EF4-FFF2-40B4-BE49-F238E27FC236}">
                <a16:creationId xmlns:a16="http://schemas.microsoft.com/office/drawing/2014/main" id="{87E24FB2-5749-4F5D-B7FF-8976E69C1276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원본 연결</a:t>
            </a:r>
          </a:p>
        </p:txBody>
      </p:sp>
      <p:sp>
        <p:nvSpPr>
          <p:cNvPr id="30" name="행을 선택하면 사용한 판정과 증적·조치 이력을 조회합니다.">
            <a:extLst>
              <a:ext uri="{FF2B5EF4-FFF2-40B4-BE49-F238E27FC236}">
                <a16:creationId xmlns:a16="http://schemas.microsoft.com/office/drawing/2014/main" id="{63AB90CC-4B7F-455E-B3FB-C277094A6031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행을 선택하면 사용한 판정과 증적·조치 이력을 조회합니다.</a:t>
            </a:r>
          </a:p>
        </p:txBody>
      </p:sp>
      <p:sp>
        <p:nvSpPr>
          <p:cNvPr id="31" name="API 연결">
            <a:extLst>
              <a:ext uri="{FF2B5EF4-FFF2-40B4-BE49-F238E27FC236}">
                <a16:creationId xmlns:a16="http://schemas.microsoft.com/office/drawing/2014/main" id="{4F262C3E-2A43-421E-8A79-3DC9BEFC108F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2" name="GET /api/v2/reports/{id}&#10;월별: POST /monthly-compari">
            <a:extLst>
              <a:ext uri="{FF2B5EF4-FFF2-40B4-BE49-F238E27FC236}">
                <a16:creationId xmlns:a16="http://schemas.microsoft.com/office/drawing/2014/main" id="{FDFE4E05-749C-4BF6-8F9A-6338DBC0858E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/api/v2/reports/{id}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월별: POST /monthly-comparisons</a:t>
            </a:r>
          </a:p>
        </p:txBody>
      </p:sp>
    </p:spTree>
    <p:extLst>
      <p:ext uri="{BB962C8B-B14F-4D97-AF65-F5344CB8AC3E}">
        <p14:creationId xmlns:p14="http://schemas.microsoft.com/office/powerpoint/2010/main" val="2140527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UI-11  항목 카탈로그와 프로파일">
            <a:extLst>
              <a:ext uri="{FF2B5EF4-FFF2-40B4-BE49-F238E27FC236}">
                <a16:creationId xmlns:a16="http://schemas.microsoft.com/office/drawing/2014/main" id="{9DA23D56-FD8B-409F-A902-A9BCB9C5045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UI-11  항목 카탈로그와 프로파일</a:t>
            </a:r>
          </a:p>
        </p:txBody>
      </p:sp>
      <p:sp>
        <p:nvSpPr>
          <p:cNvPr id="2" name="131개 전체 등록과 실제 자동화 지원 범위를 구분">
            <a:extLst>
              <a:ext uri="{FF2B5EF4-FFF2-40B4-BE49-F238E27FC236}">
                <a16:creationId xmlns:a16="http://schemas.microsoft.com/office/drawing/2014/main" id="{F5F6540A-AE8D-4F04-8D56-E6EF43EE168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131개 전체 등록과 실제 자동화 지원 범위를 구분</a:t>
            </a:r>
          </a:p>
        </p:txBody>
      </p:sp>
      <p:sp>
        <p:nvSpPr>
          <p:cNvPr id="3" name="FR-05~06, FR-11, NFR-04, NFR-07  ·  통합 설계안 v0.3">
            <a:extLst>
              <a:ext uri="{FF2B5EF4-FFF2-40B4-BE49-F238E27FC236}">
                <a16:creationId xmlns:a16="http://schemas.microsoft.com/office/drawing/2014/main" id="{9C3BBA40-AEC6-4650-B67F-35BF3F705A56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FR-05~06, FR-11, NFR-04, NFR-07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4C066-A7FD-44CD-AB57-70ABCBC0582F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B668A9-B5B8-4C73-A754-B48C5ADE615A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863AFA4A-3E18-4CC5-B59D-BA980C8A6787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B53E2C8E-B2DC-41E3-9734-2F9BE852E862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47D78B-12B0-4CD3-904B-FD380E6A2EF4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1E5EBFC0-E7EB-4050-BAE4-8E9C0B560789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374FB625-2709-4CB0-AC74-2EB77AEFDFB8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572FAB03-7BD8-4DCF-B5BA-F587D22F0B98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0BC9467E-C433-41B0-8DC4-585C1B29BCF0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조치 관리">
            <a:extLst>
              <a:ext uri="{FF2B5EF4-FFF2-40B4-BE49-F238E27FC236}">
                <a16:creationId xmlns:a16="http://schemas.microsoft.com/office/drawing/2014/main" id="{068CF454-96B7-481B-9C58-47DB39E6B17A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5" name="이력·보고서">
            <a:extLst>
              <a:ext uri="{FF2B5EF4-FFF2-40B4-BE49-F238E27FC236}">
                <a16:creationId xmlns:a16="http://schemas.microsoft.com/office/drawing/2014/main" id="{08C0E8F1-BF40-4940-B099-157AAADE271A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6" name="월별 비교">
            <a:extLst>
              <a:ext uri="{FF2B5EF4-FFF2-40B4-BE49-F238E27FC236}">
                <a16:creationId xmlns:a16="http://schemas.microsoft.com/office/drawing/2014/main" id="{74C08A8F-10A1-4675-9683-275D52B714EA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7AE532-F295-4F64-A944-596735A6BF9A}"/>
              </a:ext>
            </a:extLst>
          </p:cNvPr>
          <p:cNvSpPr>
            <a:spLocks noGrp="1"/>
          </p:cNvSpPr>
          <p:nvPr/>
        </p:nvSpPr>
        <p:spPr>
          <a:xfrm>
            <a:off x="695325" y="60102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1713D712-F7E7-4C3F-A411-7BD77BC74A38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69EFB53A-4885-45E6-87F2-8AA96AF117B1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KISA 항목·프로파일">
            <a:extLst>
              <a:ext uri="{FF2B5EF4-FFF2-40B4-BE49-F238E27FC236}">
                <a16:creationId xmlns:a16="http://schemas.microsoft.com/office/drawing/2014/main" id="{1913582F-B3C0-4D04-8C51-9EDDC603D50A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KISA 항목·프로파일</a:t>
            </a:r>
          </a:p>
        </p:txBody>
      </p:sp>
      <p:sp>
        <p:nvSpPr>
          <p:cNvPr id="21" name="카탈로그 등록 131 / 131    Unix 67개    Windows 64개">
            <a:extLst>
              <a:ext uri="{FF2B5EF4-FFF2-40B4-BE49-F238E27FC236}">
                <a16:creationId xmlns:a16="http://schemas.microsoft.com/office/drawing/2014/main" id="{77FA852B-63C2-48C0-B838-3790DE98CCAC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카탈로그 등록 131 / 131    Unix 67개    Windows 64개</a:t>
            </a:r>
          </a:p>
        </p:txBody>
      </p:sp>
      <p:sp>
        <p:nvSpPr>
          <p:cNvPr id="22" name="[OS 선택]   [영역 선택]   [지원 수준]   [코드 검색]">
            <a:extLst>
              <a:ext uri="{FF2B5EF4-FFF2-40B4-BE49-F238E27FC236}">
                <a16:creationId xmlns:a16="http://schemas.microsoft.com/office/drawing/2014/main" id="{E791802D-BE10-4018-AE78-E2EFEE38B5DA}"/>
              </a:ext>
            </a:extLst>
          </p:cNvPr>
          <p:cNvSpPr>
            <a:spLocks noGrp="1"/>
          </p:cNvSpPr>
          <p:nvPr/>
        </p:nvSpPr>
        <p:spPr>
          <a:xfrm>
            <a:off x="2314575" y="3686175"/>
            <a:ext cx="795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[OS 선택]   [영역 선택]   [지원 수준]   [코드 검색]</a:t>
            </a:r>
          </a:p>
        </p:txBody>
      </p:sp>
      <p:graphicFrame>
        <p:nvGraphicFramePr>
          <p:cNvPr id="59" name="표 58"/>
          <p:cNvGraphicFramePr/>
          <p:nvPr/>
        </p:nvGraphicFramePr>
        <p:xfrm>
          <a:off x="2314575" y="4257675"/>
          <a:ext cx="7953375" cy="253365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73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코드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OS·역할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하드닝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Rocky / SSH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2026.1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U-64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Unix / 전체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증적+수동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2026.1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Windows / 로컬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정책에 따름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2026.1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W-63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Windows / 도메인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역할별 분기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2026.1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6F1ED9-0B87-4B54-AFDA-6E6769B99D6E}"/>
              </a:ext>
            </a:extLst>
          </p:cNvPr>
          <p:cNvSpPr>
            <a:spLocks noGrp="1"/>
          </p:cNvSpPr>
          <p:nvPr/>
        </p:nvSpPr>
        <p:spPr>
          <a:xfrm>
            <a:off x="2314575" y="6915150"/>
            <a:ext cx="2200275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프로파일 상세">
            <a:extLst>
              <a:ext uri="{FF2B5EF4-FFF2-40B4-BE49-F238E27FC236}">
                <a16:creationId xmlns:a16="http://schemas.microsoft.com/office/drawing/2014/main" id="{293F873D-2659-4C12-A122-90B5F0BC12E4}"/>
              </a:ext>
            </a:extLst>
          </p:cNvPr>
          <p:cNvSpPr>
            <a:spLocks noGrp="1"/>
          </p:cNvSpPr>
          <p:nvPr/>
        </p:nvSpPr>
        <p:spPr>
          <a:xfrm>
            <a:off x="2390775" y="6981825"/>
            <a:ext cx="2047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프로파일 상세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613EB35-4C4D-4AC1-A83A-D172F41218A8}"/>
              </a:ext>
            </a:extLst>
          </p:cNvPr>
          <p:cNvSpPr>
            <a:spLocks noGrp="1"/>
          </p:cNvSpPr>
          <p:nvPr/>
        </p:nvSpPr>
        <p:spPr>
          <a:xfrm>
            <a:off x="4705350" y="6915150"/>
            <a:ext cx="2771775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프로파일 새 버전">
            <a:extLst>
              <a:ext uri="{FF2B5EF4-FFF2-40B4-BE49-F238E27FC236}">
                <a16:creationId xmlns:a16="http://schemas.microsoft.com/office/drawing/2014/main" id="{5DD4F0FA-5118-48C6-AB65-9D66F27C2866}"/>
              </a:ext>
            </a:extLst>
          </p:cNvPr>
          <p:cNvSpPr>
            <a:spLocks noGrp="1"/>
          </p:cNvSpPr>
          <p:nvPr/>
        </p:nvSpPr>
        <p:spPr>
          <a:xfrm>
            <a:off x="4781550" y="6981825"/>
            <a:ext cx="26193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프로파일 새 버전</a:t>
            </a:r>
          </a:p>
        </p:txBody>
      </p:sp>
      <p:sp>
        <p:nvSpPr>
          <p:cNvPr id="28" name="조치 분류는 예시이며 OS·정책·영향도 검증 후 코드별로 확정">
            <a:extLst>
              <a:ext uri="{FF2B5EF4-FFF2-40B4-BE49-F238E27FC236}">
                <a16:creationId xmlns:a16="http://schemas.microsoft.com/office/drawing/2014/main" id="{0B52E111-B040-4C1B-90F7-4C25DD38AE0D}"/>
              </a:ext>
            </a:extLst>
          </p:cNvPr>
          <p:cNvSpPr>
            <a:spLocks noGrp="1"/>
          </p:cNvSpPr>
          <p:nvPr/>
        </p:nvSpPr>
        <p:spPr>
          <a:xfrm>
            <a:off x="2314575" y="7467600"/>
            <a:ext cx="795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분류는 예시이며 OS·정책·영향도 검증 후 코드별로 확정</a:t>
            </a:r>
          </a:p>
        </p:txBody>
      </p:sp>
      <p:sp>
        <p:nvSpPr>
          <p:cNvPr id="29" name="관리 기준">
            <a:extLst>
              <a:ext uri="{FF2B5EF4-FFF2-40B4-BE49-F238E27FC236}">
                <a16:creationId xmlns:a16="http://schemas.microsoft.com/office/drawing/2014/main" id="{8EFCC1A3-D027-4A91-B763-DDAEB4158299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관리 기준</a:t>
            </a:r>
          </a:p>
        </p:txBody>
      </p:sp>
      <p:sp>
        <p:nvSpPr>
          <p:cNvPr id="30" name="코드·명칭·중요도는 업로드된 요구사항 목록을 기준으로 등록합니다.">
            <a:extLst>
              <a:ext uri="{FF2B5EF4-FFF2-40B4-BE49-F238E27FC236}">
                <a16:creationId xmlns:a16="http://schemas.microsoft.com/office/drawing/2014/main" id="{0FED9851-3F1C-4C5C-9FA6-C039ECC20CF6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코드·명칭·중요도는 업로드된 요구사항 목록을 기준으로 등록합니다.</a:t>
            </a:r>
          </a:p>
        </p:txBody>
      </p:sp>
      <p:sp>
        <p:nvSpPr>
          <p:cNvPr id="31" name="버전 규칙">
            <a:extLst>
              <a:ext uri="{FF2B5EF4-FFF2-40B4-BE49-F238E27FC236}">
                <a16:creationId xmlns:a16="http://schemas.microsoft.com/office/drawing/2014/main" id="{254BB555-0E58-4424-BC21-01E4875A45E6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버전 규칙</a:t>
            </a:r>
          </a:p>
        </p:txBody>
      </p:sp>
      <p:sp>
        <p:nvSpPr>
          <p:cNvPr id="32" name="이미 사용한 기준을 덮어쓰지 않고 새 버전을 만들어 배포합니다.">
            <a:extLst>
              <a:ext uri="{FF2B5EF4-FFF2-40B4-BE49-F238E27FC236}">
                <a16:creationId xmlns:a16="http://schemas.microsoft.com/office/drawing/2014/main" id="{0435A223-93C1-4D2F-B93D-D0D7C27BF6A2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이미 사용한 기준을 덮어쓰지 않고 새 버전을 만들어 배포합니다.</a:t>
            </a:r>
          </a:p>
        </p:txBody>
      </p:sp>
      <p:sp>
        <p:nvSpPr>
          <p:cNvPr id="33" name="지원 수준">
            <a:extLst>
              <a:ext uri="{FF2B5EF4-FFF2-40B4-BE49-F238E27FC236}">
                <a16:creationId xmlns:a16="http://schemas.microsoft.com/office/drawing/2014/main" id="{3C1A3626-9F32-443C-A850-5E6A9EC76AAE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지원 수준</a:t>
            </a:r>
          </a:p>
        </p:txBody>
      </p:sp>
      <p:sp>
        <p:nvSpPr>
          <p:cNvPr id="34" name="자동 점검, 증적 수집+수동 확인, 미지원 사유를 OS 버전별로 관리합니다.">
            <a:extLst>
              <a:ext uri="{FF2B5EF4-FFF2-40B4-BE49-F238E27FC236}">
                <a16:creationId xmlns:a16="http://schemas.microsoft.com/office/drawing/2014/main" id="{86B87EAD-2B09-4E1E-B8AE-084CFDBD3B01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자동 점검, 증적 수집+수동 확인, 미지원 사유를 OS 버전별로 관리합니다.</a:t>
            </a:r>
          </a:p>
        </p:txBody>
      </p:sp>
      <p:sp>
        <p:nvSpPr>
          <p:cNvPr id="35" name="API 연결">
            <a:extLst>
              <a:ext uri="{FF2B5EF4-FFF2-40B4-BE49-F238E27FC236}">
                <a16:creationId xmlns:a16="http://schemas.microsoft.com/office/drawing/2014/main" id="{C966E0AC-CB46-4500-8C51-82A8362427E5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6" name="GET /api/v2/catalog&#10;GET /api/v2/profiles&#10;POST /api">
            <a:extLst>
              <a:ext uri="{FF2B5EF4-FFF2-40B4-BE49-F238E27FC236}">
                <a16:creationId xmlns:a16="http://schemas.microsoft.com/office/drawing/2014/main" id="{010BC9E9-8FD6-4EE2-B694-50BE59EEAB79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/api/v2/catalog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/api/v2/profiles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/api/v2/profiles</a:t>
            </a:r>
          </a:p>
        </p:txBody>
      </p:sp>
    </p:spTree>
    <p:extLst>
      <p:ext uri="{BB962C8B-B14F-4D97-AF65-F5344CB8AC3E}">
        <p14:creationId xmlns:p14="http://schemas.microsoft.com/office/powerpoint/2010/main" val="732755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UI-12  월별 비교 대시보드">
            <a:extLst>
              <a:ext uri="{FF2B5EF4-FFF2-40B4-BE49-F238E27FC236}">
                <a16:creationId xmlns:a16="http://schemas.microsoft.com/office/drawing/2014/main" id="{BB49C657-89F6-42AA-AC95-E270E46DD8B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UI-12  월별 비교 대시보드</a:t>
            </a:r>
          </a:p>
        </p:txBody>
      </p:sp>
      <p:sp>
        <p:nvSpPr>
          <p:cNvPr id="2" name="2026년 8월 ↔ 9월 / 예시 데이터 / 현재 월은 잠정 결과">
            <a:extLst>
              <a:ext uri="{FF2B5EF4-FFF2-40B4-BE49-F238E27FC236}">
                <a16:creationId xmlns:a16="http://schemas.microsoft.com/office/drawing/2014/main" id="{B6D378B9-B577-4704-AAA3-615A59B5807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2026년 8월 ↔ 9월 / 예시 데이터 / 현재 월은 잠정 결과</a:t>
            </a:r>
          </a:p>
        </p:txBody>
      </p:sp>
      <p:sp>
        <p:nvSpPr>
          <p:cNvPr id="3" name="FR-19~20  ·  통합 설계안 v0.3">
            <a:extLst>
              <a:ext uri="{FF2B5EF4-FFF2-40B4-BE49-F238E27FC236}">
                <a16:creationId xmlns:a16="http://schemas.microsoft.com/office/drawing/2014/main" id="{7746C8D5-80C6-4079-96E8-A3813821F1EB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FR-19~20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35BCBE-2345-4C8A-92D8-FC67745EE2A1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5DEFB0-5F39-428B-B8D1-AB650EAA4D0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2E1B1D30-D4AE-4064-BF4D-3D0BDAD638F2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CD323C9E-A255-4053-8CE8-0CA661DD7FA9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98F8E8-EBB7-4A32-BD77-7FFAA18A11A3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3871F292-C355-499A-8027-35050E1A41E5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249400EE-6D6B-4766-81A3-851F71F9FB4A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50775FC4-536F-4CF2-83BA-20EF9716232F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03592F91-76AE-4489-BEC4-CD609CA957F8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조치 관리">
            <a:extLst>
              <a:ext uri="{FF2B5EF4-FFF2-40B4-BE49-F238E27FC236}">
                <a16:creationId xmlns:a16="http://schemas.microsoft.com/office/drawing/2014/main" id="{D592EA31-42C0-44EC-A6B1-3DCE8E60A500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5" name="이력·보고서">
            <a:extLst>
              <a:ext uri="{FF2B5EF4-FFF2-40B4-BE49-F238E27FC236}">
                <a16:creationId xmlns:a16="http://schemas.microsoft.com/office/drawing/2014/main" id="{E3BEBB5D-18C3-4B49-B583-D542305DCA73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FAC70F-C148-469F-8988-B1594CC768DA}"/>
              </a:ext>
            </a:extLst>
          </p:cNvPr>
          <p:cNvSpPr>
            <a:spLocks noGrp="1"/>
          </p:cNvSpPr>
          <p:nvPr/>
        </p:nvSpPr>
        <p:spPr>
          <a:xfrm>
            <a:off x="695325" y="549592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100D34F5-82E1-42FF-BEE2-70C65E8A160F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53E94749-3CF5-49C1-8B17-D3253BF767F6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D66C88E7-6AB0-460D-A904-58AB727C2226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월별 점검 결과 비교">
            <a:extLst>
              <a:ext uri="{FF2B5EF4-FFF2-40B4-BE49-F238E27FC236}">
                <a16:creationId xmlns:a16="http://schemas.microsoft.com/office/drawing/2014/main" id="{65333FDB-3BAA-49F1-B630-658208089CFF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월별 점검 결과 비교</a:t>
            </a:r>
          </a:p>
        </p:txBody>
      </p:sp>
      <p:sp>
        <p:nvSpPr>
          <p:cNvPr id="21" name="기준 월 [2026-08]   비교 월 [2026-09]   [조회]">
            <a:extLst>
              <a:ext uri="{FF2B5EF4-FFF2-40B4-BE49-F238E27FC236}">
                <a16:creationId xmlns:a16="http://schemas.microsoft.com/office/drawing/2014/main" id="{6F723F7A-9DF9-4954-B9E8-1EE184B5A1D8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기준 월 [2026-08]   비교 월 [2026-09]   [조회]</a:t>
            </a:r>
          </a:p>
        </p:txBody>
      </p:sp>
      <p:sp>
        <p:nvSpPr>
          <p:cNvPr id="22" name="잠정 · 2026-09-15 13:30 KST / snapshot: snap-001">
            <a:extLst>
              <a:ext uri="{FF2B5EF4-FFF2-40B4-BE49-F238E27FC236}">
                <a16:creationId xmlns:a16="http://schemas.microsoft.com/office/drawing/2014/main" id="{D951E1D5-AE7F-41F0-A927-E6F1D50F13CA}"/>
              </a:ext>
            </a:extLst>
          </p:cNvPr>
          <p:cNvSpPr>
            <a:spLocks noGrp="1"/>
          </p:cNvSpPr>
          <p:nvPr/>
        </p:nvSpPr>
        <p:spPr>
          <a:xfrm>
            <a:off x="2314575" y="3505200"/>
            <a:ext cx="795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A56414"/>
                </a:solidFill>
                <a:latin typeface="Noto Sans CJK KR"/>
                <a:ea typeface="Noto Sans CJK KR"/>
                <a:cs typeface="Noto Sans CJK KR"/>
              </a:rPr>
              <a:t>잠정 · 2026-09-15 13:30 KST / snapshot: snap-001</a:t>
            </a:r>
          </a:p>
        </p:txBody>
      </p:sp>
      <p:sp>
        <p:nvSpPr>
          <p:cNvPr id="23" name="신규">
            <a:extLst>
              <a:ext uri="{FF2B5EF4-FFF2-40B4-BE49-F238E27FC236}">
                <a16:creationId xmlns:a16="http://schemas.microsoft.com/office/drawing/2014/main" id="{FC1BED0F-D21E-431F-9A47-B9012881F125}"/>
              </a:ext>
            </a:extLst>
          </p:cNvPr>
          <p:cNvSpPr>
            <a:spLocks noGrp="1"/>
          </p:cNvSpPr>
          <p:nvPr/>
        </p:nvSpPr>
        <p:spPr>
          <a:xfrm>
            <a:off x="2314575" y="4038600"/>
            <a:ext cx="1885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신규</a:t>
            </a:r>
          </a:p>
        </p:txBody>
      </p:sp>
      <p:sp>
        <p:nvSpPr>
          <p:cNvPr id="24" name="10">
            <a:extLst>
              <a:ext uri="{FF2B5EF4-FFF2-40B4-BE49-F238E27FC236}">
                <a16:creationId xmlns:a16="http://schemas.microsoft.com/office/drawing/2014/main" id="{F555934F-2FCF-4DD7-8453-7BB5A8008064}"/>
              </a:ext>
            </a:extLst>
          </p:cNvPr>
          <p:cNvSpPr>
            <a:spLocks noGrp="1"/>
          </p:cNvSpPr>
          <p:nvPr/>
        </p:nvSpPr>
        <p:spPr>
          <a:xfrm>
            <a:off x="2314575" y="439102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25" name="재발">
            <a:extLst>
              <a:ext uri="{FF2B5EF4-FFF2-40B4-BE49-F238E27FC236}">
                <a16:creationId xmlns:a16="http://schemas.microsoft.com/office/drawing/2014/main" id="{B3FCFE35-0D22-490F-8370-EC858A5F55BD}"/>
              </a:ext>
            </a:extLst>
          </p:cNvPr>
          <p:cNvSpPr>
            <a:spLocks noGrp="1"/>
          </p:cNvSpPr>
          <p:nvPr/>
        </p:nvSpPr>
        <p:spPr>
          <a:xfrm>
            <a:off x="4314825" y="4038600"/>
            <a:ext cx="1885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재발</a:t>
            </a:r>
          </a:p>
        </p:txBody>
      </p:sp>
      <p:sp>
        <p:nvSpPr>
          <p:cNvPr id="26" name="4">
            <a:extLst>
              <a:ext uri="{FF2B5EF4-FFF2-40B4-BE49-F238E27FC236}">
                <a16:creationId xmlns:a16="http://schemas.microsoft.com/office/drawing/2014/main" id="{2B80D32C-9720-40DE-AF80-C1D4EAB24724}"/>
              </a:ext>
            </a:extLst>
          </p:cNvPr>
          <p:cNvSpPr>
            <a:spLocks noGrp="1"/>
          </p:cNvSpPr>
          <p:nvPr/>
        </p:nvSpPr>
        <p:spPr>
          <a:xfrm>
            <a:off x="4314825" y="439102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7" name="해소">
            <a:extLst>
              <a:ext uri="{FF2B5EF4-FFF2-40B4-BE49-F238E27FC236}">
                <a16:creationId xmlns:a16="http://schemas.microsoft.com/office/drawing/2014/main" id="{6E87ADF9-1738-4A54-95AE-99DBA4301F31}"/>
              </a:ext>
            </a:extLst>
          </p:cNvPr>
          <p:cNvSpPr>
            <a:spLocks noGrp="1"/>
          </p:cNvSpPr>
          <p:nvPr/>
        </p:nvSpPr>
        <p:spPr>
          <a:xfrm>
            <a:off x="6315075" y="4038600"/>
            <a:ext cx="1885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해소</a:t>
            </a:r>
          </a:p>
        </p:txBody>
      </p:sp>
      <p:sp>
        <p:nvSpPr>
          <p:cNvPr id="28" name="20">
            <a:extLst>
              <a:ext uri="{FF2B5EF4-FFF2-40B4-BE49-F238E27FC236}">
                <a16:creationId xmlns:a16="http://schemas.microsoft.com/office/drawing/2014/main" id="{24F04007-69B6-44AF-9FC1-0FAF9CB4B925}"/>
              </a:ext>
            </a:extLst>
          </p:cNvPr>
          <p:cNvSpPr>
            <a:spLocks noGrp="1"/>
          </p:cNvSpPr>
          <p:nvPr/>
        </p:nvSpPr>
        <p:spPr>
          <a:xfrm>
            <a:off x="6315075" y="439102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87D5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87D57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29" name="지속">
            <a:extLst>
              <a:ext uri="{FF2B5EF4-FFF2-40B4-BE49-F238E27FC236}">
                <a16:creationId xmlns:a16="http://schemas.microsoft.com/office/drawing/2014/main" id="{75B2486E-9B75-4A29-A92F-76B5A477273E}"/>
              </a:ext>
            </a:extLst>
          </p:cNvPr>
          <p:cNvSpPr>
            <a:spLocks noGrp="1"/>
          </p:cNvSpPr>
          <p:nvPr/>
        </p:nvSpPr>
        <p:spPr>
          <a:xfrm>
            <a:off x="8315325" y="4038600"/>
            <a:ext cx="1885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지속</a:t>
            </a:r>
          </a:p>
        </p:txBody>
      </p:sp>
      <p:sp>
        <p:nvSpPr>
          <p:cNvPr id="30" name="20">
            <a:extLst>
              <a:ext uri="{FF2B5EF4-FFF2-40B4-BE49-F238E27FC236}">
                <a16:creationId xmlns:a16="http://schemas.microsoft.com/office/drawing/2014/main" id="{3E253C2E-8FDB-4ED5-8386-4B2F9E5C7D3E}"/>
              </a:ext>
            </a:extLst>
          </p:cNvPr>
          <p:cNvSpPr>
            <a:spLocks noGrp="1"/>
          </p:cNvSpPr>
          <p:nvPr/>
        </p:nvSpPr>
        <p:spPr>
          <a:xfrm>
            <a:off x="8315325" y="439102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31" name="공통 비교 100 / 제외 31 / 취약 40 → 34 (−6)">
            <a:extLst>
              <a:ext uri="{FF2B5EF4-FFF2-40B4-BE49-F238E27FC236}">
                <a16:creationId xmlns:a16="http://schemas.microsoft.com/office/drawing/2014/main" id="{2F6B6F55-781E-41C7-B9B1-6B4A4764F042}"/>
              </a:ext>
            </a:extLst>
          </p:cNvPr>
          <p:cNvSpPr>
            <a:spLocks noGrp="1"/>
          </p:cNvSpPr>
          <p:nvPr/>
        </p:nvSpPr>
        <p:spPr>
          <a:xfrm>
            <a:off x="2314575" y="5105400"/>
            <a:ext cx="7953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공통 비교 100 / 제외 31 / 취약 40 → 34 (−6)</a:t>
            </a:r>
          </a:p>
        </p:txBody>
      </p:sp>
      <p:graphicFrame>
        <p:nvGraphicFramePr>
          <p:cNvPr id="73" name="표 72"/>
          <p:cNvGraphicFramePr/>
          <p:nvPr/>
        </p:nvGraphicFramePr>
        <p:xfrm>
          <a:off x="2314575" y="5667375"/>
          <a:ext cx="7953375" cy="1533524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38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8월 전체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9월 전체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PASS / 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70 / 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78 / 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NA / UNABLE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 / 5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 / 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대기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[서버별] [영역별] [중요도별] [제외 사유 31] [근거 회차]">
            <a:extLst>
              <a:ext uri="{FF2B5EF4-FFF2-40B4-BE49-F238E27FC236}">
                <a16:creationId xmlns:a16="http://schemas.microsoft.com/office/drawing/2014/main" id="{3051611A-C95F-4FEA-806F-C3BE16A40546}"/>
              </a:ext>
            </a:extLst>
          </p:cNvPr>
          <p:cNvSpPr>
            <a:spLocks noGrp="1"/>
          </p:cNvSpPr>
          <p:nvPr/>
        </p:nvSpPr>
        <p:spPr>
          <a:xfrm>
            <a:off x="2314575" y="7391400"/>
            <a:ext cx="795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[서버별] [영역별] [중요도별] [제외 사유 31] [근거 회차]</a:t>
            </a:r>
          </a:p>
        </p:txBody>
      </p:sp>
      <p:sp>
        <p:nvSpPr>
          <p:cNvPr id="34" name="필터">
            <a:extLst>
              <a:ext uri="{FF2B5EF4-FFF2-40B4-BE49-F238E27FC236}">
                <a16:creationId xmlns:a16="http://schemas.microsoft.com/office/drawing/2014/main" id="{2F72899F-CF2E-4718-8E26-CAAC623D9038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필터</a:t>
            </a:r>
          </a:p>
        </p:txBody>
      </p:sp>
      <p:sp>
        <p:nvSpPr>
          <p:cNvPr id="35" name="두 월은 서로 달라야 하며 미래 월은 차단합니다. 서버·영역·중요도·상태로 조회합니다.">
            <a:extLst>
              <a:ext uri="{FF2B5EF4-FFF2-40B4-BE49-F238E27FC236}">
                <a16:creationId xmlns:a16="http://schemas.microsoft.com/office/drawing/2014/main" id="{54776BE5-0585-4BE8-BB36-746D1AF6D0B4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두 월은 서로 달라야 하며 미래 월은 차단합니다. 서버·영역·중요도·상태로 조회합니다.</a:t>
            </a:r>
          </a:p>
        </p:txBody>
      </p:sp>
      <p:sp>
        <p:nvSpPr>
          <p:cNvPr id="36" name="집계 기준">
            <a:extLst>
              <a:ext uri="{FF2B5EF4-FFF2-40B4-BE49-F238E27FC236}">
                <a16:creationId xmlns:a16="http://schemas.microsoft.com/office/drawing/2014/main" id="{B54D4B74-37B6-4426-AD7C-336C76ACB8E5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집계 기준</a:t>
            </a:r>
          </a:p>
        </p:txBody>
      </p:sp>
      <p:sp>
        <p:nvSpPr>
          <p:cNvPr id="37" name="전체 합계와 공통 집합의 취약 증감을 구분합니다. 양호 유지 46건도 상세에서 조회합니다.">
            <a:extLst>
              <a:ext uri="{FF2B5EF4-FFF2-40B4-BE49-F238E27FC236}">
                <a16:creationId xmlns:a16="http://schemas.microsoft.com/office/drawing/2014/main" id="{DF8D5896-58FB-45D4-963A-A49448E9B054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전체 합계와 공통 집합의 취약 증감을 구분합니다. 양호 유지 46건도 상세에서 조회합니다.</a:t>
            </a:r>
          </a:p>
        </p:txBody>
      </p:sp>
      <p:sp>
        <p:nvSpPr>
          <p:cNvPr id="38" name="별도 표시">
            <a:extLst>
              <a:ext uri="{FF2B5EF4-FFF2-40B4-BE49-F238E27FC236}">
                <a16:creationId xmlns:a16="http://schemas.microsoft.com/office/drawing/2014/main" id="{63C982B2-788F-4AE2-B4CD-5AB8D200B6E0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별도 표시</a:t>
            </a:r>
          </a:p>
        </p:txBody>
      </p:sp>
      <p:sp>
        <p:nvSpPr>
          <p:cNvPr id="39" name="미수행·진행 중·신규·제외 서버·최초 발견은 별도 현황으로 표시합니다.">
            <a:extLst>
              <a:ext uri="{FF2B5EF4-FFF2-40B4-BE49-F238E27FC236}">
                <a16:creationId xmlns:a16="http://schemas.microsoft.com/office/drawing/2014/main" id="{D7567501-D35E-4B7C-BE43-D121F80AA3CC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미수행·진행 중·신규·제외 서버·최초 발견은 별도 현황으로 표시합니다.</a:t>
            </a:r>
          </a:p>
        </p:txBody>
      </p:sp>
      <p:sp>
        <p:nvSpPr>
          <p:cNvPr id="40" name="API 연결">
            <a:extLst>
              <a:ext uri="{FF2B5EF4-FFF2-40B4-BE49-F238E27FC236}">
                <a16:creationId xmlns:a16="http://schemas.microsoft.com/office/drawing/2014/main" id="{31EEF6A6-96B5-42A9-BF2B-FDC475B8EB5C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41" name="POST /api/v2/monthly-comparisons&#10;GET /monthly-comp">
            <a:extLst>
              <a:ext uri="{FF2B5EF4-FFF2-40B4-BE49-F238E27FC236}">
                <a16:creationId xmlns:a16="http://schemas.microsoft.com/office/drawing/2014/main" id="{4C9F8669-8867-473F-8ADC-9F932406D923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/api/v2/monthly-comparisons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/monthly-comparisons/{id}</a:t>
            </a:r>
          </a:p>
        </p:txBody>
      </p:sp>
    </p:spTree>
    <p:extLst>
      <p:ext uri="{BB962C8B-B14F-4D97-AF65-F5344CB8AC3E}">
        <p14:creationId xmlns:p14="http://schemas.microsoft.com/office/powerpoint/2010/main" val="2079393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UI-13  월별 항목 상세와 원본 추적">
            <a:extLst>
              <a:ext uri="{FF2B5EF4-FFF2-40B4-BE49-F238E27FC236}">
                <a16:creationId xmlns:a16="http://schemas.microsoft.com/office/drawing/2014/main" id="{1AF510CB-6EF7-48D4-889D-58C592717ED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UI-13  월별 항목 상세와 원본 추적</a:t>
            </a:r>
          </a:p>
        </p:txBody>
      </p:sp>
      <p:sp>
        <p:nvSpPr>
          <p:cNvPr id="2" name="월별 대표 판정, 적용 기준, 재발 근거 및 조치 이력을 함께 조회">
            <a:extLst>
              <a:ext uri="{FF2B5EF4-FFF2-40B4-BE49-F238E27FC236}">
                <a16:creationId xmlns:a16="http://schemas.microsoft.com/office/drawing/2014/main" id="{DFD9BE31-8641-4D86-B629-0E82F9A2F0A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대표 판정, 적용 기준, 재발 근거 및 조치 이력을 함께 조회</a:t>
            </a:r>
          </a:p>
        </p:txBody>
      </p:sp>
      <p:sp>
        <p:nvSpPr>
          <p:cNvPr id="3" name="FR-17~20  ·  통합 설계안 v0.3">
            <a:extLst>
              <a:ext uri="{FF2B5EF4-FFF2-40B4-BE49-F238E27FC236}">
                <a16:creationId xmlns:a16="http://schemas.microsoft.com/office/drawing/2014/main" id="{DDD4C5F2-0F88-4064-8265-620F4FA16FA7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FR-17~20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D01CD7-2D0E-4A13-85DC-9DD06E835F2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831F63-CFE1-49AC-A54D-28AFF63B6A9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5F12DB7E-5AE1-4DA7-B543-AD3DFF7AFCAA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54672287-B7F7-4267-BF7D-D613212C33F4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99BA91-C094-4745-84FF-616621DD26B9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D1C60440-2E40-4194-9FBD-BDCA0E7BAB6F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86151C0A-E926-479F-9120-519FF9263B7C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B6EA11F1-0E58-4EC2-8E2E-C237F97BDFF6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82DAB4BD-263A-4470-9CA8-2816F51831D8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조치 관리">
            <a:extLst>
              <a:ext uri="{FF2B5EF4-FFF2-40B4-BE49-F238E27FC236}">
                <a16:creationId xmlns:a16="http://schemas.microsoft.com/office/drawing/2014/main" id="{F94EF8F8-028A-43B4-A13E-130FD2531A97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5" name="이력·보고서">
            <a:extLst>
              <a:ext uri="{FF2B5EF4-FFF2-40B4-BE49-F238E27FC236}">
                <a16:creationId xmlns:a16="http://schemas.microsoft.com/office/drawing/2014/main" id="{C66C2BFD-E393-4A0B-BB60-975A69E1E7BC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623E45-3178-41B1-8A3D-45794ED1E7AB}"/>
              </a:ext>
            </a:extLst>
          </p:cNvPr>
          <p:cNvSpPr>
            <a:spLocks noGrp="1"/>
          </p:cNvSpPr>
          <p:nvPr/>
        </p:nvSpPr>
        <p:spPr>
          <a:xfrm>
            <a:off x="695325" y="549592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월별 비교">
            <a:extLst>
              <a:ext uri="{FF2B5EF4-FFF2-40B4-BE49-F238E27FC236}">
                <a16:creationId xmlns:a16="http://schemas.microsoft.com/office/drawing/2014/main" id="{356A711F-02B0-4C45-AA58-63DD5BF92755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EE54A54D-CD54-4E93-99BF-AF3079723A47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2E4650B7-3FF4-41D6-8B62-C2E966F604BE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srv-lnx-01 / U-01 / 재발">
            <a:extLst>
              <a:ext uri="{FF2B5EF4-FFF2-40B4-BE49-F238E27FC236}">
                <a16:creationId xmlns:a16="http://schemas.microsoft.com/office/drawing/2014/main" id="{23057148-2841-4610-9489-73AF842A738B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srv-lnx-01 / U-01 / 재발</a:t>
            </a:r>
          </a:p>
        </p:txBody>
      </p:sp>
      <p:graphicFrame>
        <p:nvGraphicFramePr>
          <p:cNvPr id="58" name="표 57"/>
          <p:cNvGraphicFramePr/>
          <p:nvPr/>
        </p:nvGraphicFramePr>
        <p:xfrm>
          <a:off x="2314575" y="3057525"/>
          <a:ext cx="7953375" cy="2438400"/>
        </p:xfrm>
        <a:graphic>
          <a:graphicData uri="http://schemas.openxmlformats.org/drawingml/2006/table">
            <a:tbl>
              <a:tblPr/>
              <a:tblGrid>
                <a:gridCol w="240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월 8월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 월 9월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대표 회차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run-full-08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run-full-09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종료 시각 KST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08-31 23:10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09-15 13:20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판정 기록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j-u01-08 /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j-u01-09 / 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정책·프로파일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kisa-2026.1 / 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kisa-2026.1 / 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호환: 동일 기준 / 분류 기준: 후월 계정 관리·중요도 상">
            <a:extLst>
              <a:ext uri="{FF2B5EF4-FFF2-40B4-BE49-F238E27FC236}">
                <a16:creationId xmlns:a16="http://schemas.microsoft.com/office/drawing/2014/main" id="{79163F20-4858-4286-96A7-DEF1CE467465}"/>
              </a:ext>
            </a:extLst>
          </p:cNvPr>
          <p:cNvSpPr>
            <a:spLocks noGrp="1"/>
          </p:cNvSpPr>
          <p:nvPr/>
        </p:nvSpPr>
        <p:spPr>
          <a:xfrm>
            <a:off x="2314575" y="5743575"/>
            <a:ext cx="79533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호환: 동일 기준 / 분류 기준: 후월 계정 관리·중요도 상</a:t>
            </a:r>
          </a:p>
        </p:txBody>
      </p:sp>
      <p:sp>
        <p:nvSpPr>
          <p:cNvPr id="23" name="재발 근거: 7월 FAIL → 8월 PASS → 9월 FAIL&#10;판정 기록 j-u01-07 ">
            <a:extLst>
              <a:ext uri="{FF2B5EF4-FFF2-40B4-BE49-F238E27FC236}">
                <a16:creationId xmlns:a16="http://schemas.microsoft.com/office/drawing/2014/main" id="{5CBC8DD5-CDF9-44DF-8E11-FC4202218CC0}"/>
              </a:ext>
            </a:extLst>
          </p:cNvPr>
          <p:cNvSpPr>
            <a:spLocks noGrp="1"/>
          </p:cNvSpPr>
          <p:nvPr/>
        </p:nvSpPr>
        <p:spPr>
          <a:xfrm>
            <a:off x="2314575" y="6334125"/>
            <a:ext cx="79533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재발 근거: 7월 FAIL → 8월 PASS → 9월 FAIL</a:t>
            </a:r>
          </a:p>
          <a:p>
            <a:pPr algn="l">
              <a:defRPr sz="15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판정 기록 j-u01-07 → j-u01-08 → j-u01-09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E97C42-45E7-4722-97C1-0383DFBD4359}"/>
              </a:ext>
            </a:extLst>
          </p:cNvPr>
          <p:cNvSpPr>
            <a:spLocks noGrp="1"/>
          </p:cNvSpPr>
          <p:nvPr/>
        </p:nvSpPr>
        <p:spPr>
          <a:xfrm>
            <a:off x="2314575" y="7305675"/>
            <a:ext cx="1762125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원본 증적">
            <a:extLst>
              <a:ext uri="{FF2B5EF4-FFF2-40B4-BE49-F238E27FC236}">
                <a16:creationId xmlns:a16="http://schemas.microsoft.com/office/drawing/2014/main" id="{08AA03A1-3EAB-49E9-AF50-4667648096E6}"/>
              </a:ext>
            </a:extLst>
          </p:cNvPr>
          <p:cNvSpPr>
            <a:spLocks noGrp="1"/>
          </p:cNvSpPr>
          <p:nvPr/>
        </p:nvSpPr>
        <p:spPr>
          <a:xfrm>
            <a:off x="2390775" y="7372350"/>
            <a:ext cx="16097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원본 증적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125E05-C197-4870-BE01-3B23B8064492}"/>
              </a:ext>
            </a:extLst>
          </p:cNvPr>
          <p:cNvSpPr>
            <a:spLocks noGrp="1"/>
          </p:cNvSpPr>
          <p:nvPr/>
        </p:nvSpPr>
        <p:spPr>
          <a:xfrm>
            <a:off x="4267200" y="7305675"/>
            <a:ext cx="21717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전체 판정 이력">
            <a:extLst>
              <a:ext uri="{FF2B5EF4-FFF2-40B4-BE49-F238E27FC236}">
                <a16:creationId xmlns:a16="http://schemas.microsoft.com/office/drawing/2014/main" id="{C221408E-5F61-4796-983D-A3E5C9B96EC8}"/>
              </a:ext>
            </a:extLst>
          </p:cNvPr>
          <p:cNvSpPr>
            <a:spLocks noGrp="1"/>
          </p:cNvSpPr>
          <p:nvPr/>
        </p:nvSpPr>
        <p:spPr>
          <a:xfrm>
            <a:off x="4343400" y="7372350"/>
            <a:ext cx="20193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전체 판정 이력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6D59FC-9500-41BB-A798-E689B8CB8D30}"/>
              </a:ext>
            </a:extLst>
          </p:cNvPr>
          <p:cNvSpPr>
            <a:spLocks noGrp="1"/>
          </p:cNvSpPr>
          <p:nvPr/>
        </p:nvSpPr>
        <p:spPr>
          <a:xfrm>
            <a:off x="6638925" y="7305675"/>
            <a:ext cx="17526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조치 이력">
            <a:extLst>
              <a:ext uri="{FF2B5EF4-FFF2-40B4-BE49-F238E27FC236}">
                <a16:creationId xmlns:a16="http://schemas.microsoft.com/office/drawing/2014/main" id="{187B8C8A-F2B5-42C2-87D5-84070127910E}"/>
              </a:ext>
            </a:extLst>
          </p:cNvPr>
          <p:cNvSpPr>
            <a:spLocks noGrp="1"/>
          </p:cNvSpPr>
          <p:nvPr/>
        </p:nvSpPr>
        <p:spPr>
          <a:xfrm>
            <a:off x="6715125" y="7372350"/>
            <a:ext cx="16002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조치 이력</a:t>
            </a:r>
          </a:p>
        </p:txBody>
      </p:sp>
      <p:sp>
        <p:nvSpPr>
          <p:cNvPr id="30" name="제외 항목도 조회">
            <a:extLst>
              <a:ext uri="{FF2B5EF4-FFF2-40B4-BE49-F238E27FC236}">
                <a16:creationId xmlns:a16="http://schemas.microsoft.com/office/drawing/2014/main" id="{ADCAD7B4-E031-434C-B9C9-794D76148669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제외 항목도 조회</a:t>
            </a:r>
          </a:p>
        </p:txBody>
      </p:sp>
      <p:sp>
        <p:nvSpPr>
          <p:cNvPr id="31" name="전후 상태를 보존하고 primary_exclusion·보조 사유를 표시합니다.">
            <a:extLst>
              <a:ext uri="{FF2B5EF4-FFF2-40B4-BE49-F238E27FC236}">
                <a16:creationId xmlns:a16="http://schemas.microsoft.com/office/drawing/2014/main" id="{3D7E33B9-6651-409C-B665-84F5807B79EC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전후 상태를 보존하고 primary_exclusion·보조 사유를 표시합니다.</a:t>
            </a:r>
          </a:p>
        </p:txBody>
      </p:sp>
      <p:sp>
        <p:nvSpPr>
          <p:cNvPr id="32" name="시각 구분">
            <a:extLst>
              <a:ext uri="{FF2B5EF4-FFF2-40B4-BE49-F238E27FC236}">
                <a16:creationId xmlns:a16="http://schemas.microsoft.com/office/drawing/2014/main" id="{D787DCCD-B198-4B4A-92DE-4338E2062495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시각 구분</a:t>
            </a:r>
          </a:p>
        </p:txBody>
      </p:sp>
      <p:sp>
        <p:nvSpPr>
          <p:cNvPr id="33" name="관측·수신·판정 등록시각과 회차 종료시각을 구분합니다.">
            <a:extLst>
              <a:ext uri="{FF2B5EF4-FFF2-40B4-BE49-F238E27FC236}">
                <a16:creationId xmlns:a16="http://schemas.microsoft.com/office/drawing/2014/main" id="{29002D79-CA49-4FD0-A086-77C58D3535A0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관측·수신·판정 등록시각과 회차 종료시각을 구분합니다.</a:t>
            </a:r>
          </a:p>
        </p:txBody>
      </p:sp>
      <p:sp>
        <p:nvSpPr>
          <p:cNvPr id="34" name="이력 범위">
            <a:extLst>
              <a:ext uri="{FF2B5EF4-FFF2-40B4-BE49-F238E27FC236}">
                <a16:creationId xmlns:a16="http://schemas.microsoft.com/office/drawing/2014/main" id="{DD17D7E3-02E6-48C0-B418-BF8AAA61EDA4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이력 범위</a:t>
            </a:r>
          </a:p>
        </p:txBody>
      </p:sp>
      <p:sp>
        <p:nvSpPr>
          <p:cNvPr id="35" name="재발 탐색의 보존 시작일, 호환 관계, 사용한 판정 ID를 확인합니다.">
            <a:extLst>
              <a:ext uri="{FF2B5EF4-FFF2-40B4-BE49-F238E27FC236}">
                <a16:creationId xmlns:a16="http://schemas.microsoft.com/office/drawing/2014/main" id="{1F417A7D-715B-48FF-96E1-D13E63F2AD7F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재발 탐색의 보존 시작일, 호환 관계, 사용한 판정 ID를 확인합니다.</a:t>
            </a:r>
          </a:p>
        </p:txBody>
      </p:sp>
      <p:sp>
        <p:nvSpPr>
          <p:cNvPr id="36" name="API 연결">
            <a:extLst>
              <a:ext uri="{FF2B5EF4-FFF2-40B4-BE49-F238E27FC236}">
                <a16:creationId xmlns:a16="http://schemas.microsoft.com/office/drawing/2014/main" id="{8C4763CA-D547-4CF1-9771-C9517A9D0B4E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7" name="GET /monthly-comparisons/{id}&#10;/items/{serverId}/{i">
            <a:extLst>
              <a:ext uri="{FF2B5EF4-FFF2-40B4-BE49-F238E27FC236}">
                <a16:creationId xmlns:a16="http://schemas.microsoft.com/office/drawing/2014/main" id="{0E94A61F-B060-4469-AD18-F085564871A9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GET /monthly-comparisons/{id}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/items/{serverId}/{itemId}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접두사 /api/v2</a:t>
            </a:r>
          </a:p>
        </p:txBody>
      </p:sp>
    </p:spTree>
    <p:extLst>
      <p:ext uri="{BB962C8B-B14F-4D97-AF65-F5344CB8AC3E}">
        <p14:creationId xmlns:p14="http://schemas.microsoft.com/office/powerpoint/2010/main" val="585980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UI-14  기준 버전 비교 가능 관계">
            <a:extLst>
              <a:ext uri="{FF2B5EF4-FFF2-40B4-BE49-F238E27FC236}">
                <a16:creationId xmlns:a16="http://schemas.microsoft.com/office/drawing/2014/main" id="{040D9193-1D71-4F1D-A8E8-80E5FBF01A6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UI-14  기준 버전 비교 가능 관계</a:t>
            </a:r>
          </a:p>
        </p:txBody>
      </p:sp>
      <p:sp>
        <p:nvSpPr>
          <p:cNvPr id="2" name="관리자가 근거와 적용 코드를 지정해야 변경 기준을 비교에 포함">
            <a:extLst>
              <a:ext uri="{FF2B5EF4-FFF2-40B4-BE49-F238E27FC236}">
                <a16:creationId xmlns:a16="http://schemas.microsoft.com/office/drawing/2014/main" id="{E62D6CDF-038F-4E20-8A40-494CF579FE6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관리자가 근거와 적용 코드를 지정해야 변경 기준을 비교에 포함</a:t>
            </a:r>
          </a:p>
        </p:txBody>
      </p:sp>
      <p:sp>
        <p:nvSpPr>
          <p:cNvPr id="3" name="FR-20·24, NFR-06  ·  통합 설계안 v0.3">
            <a:extLst>
              <a:ext uri="{FF2B5EF4-FFF2-40B4-BE49-F238E27FC236}">
                <a16:creationId xmlns:a16="http://schemas.microsoft.com/office/drawing/2014/main" id="{2DD2CC82-710C-4CB3-9FBE-6FB821897F9E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FR-20·24, NFR-06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9FEA3B-7CC7-47BA-8314-3A4603BDCB0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E56870-AA0A-4E8F-931A-7B084112B73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70E28A80-2B19-4F1D-BE16-28E1D0D789D6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A2717D2B-A6CC-421B-8FCD-528184028D8D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4C17C9-4874-4A80-BAB6-E1024284173C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3D1E88D0-AAC4-471B-8B62-FBF345DAF463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B85F8950-0B16-4602-8A74-4C8F5553D7EF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73E85BCD-47B4-4457-9393-7F02972CE441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38C0DC9B-C14B-4A9A-9E0B-8C4FFD67E600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조치 관리">
            <a:extLst>
              <a:ext uri="{FF2B5EF4-FFF2-40B4-BE49-F238E27FC236}">
                <a16:creationId xmlns:a16="http://schemas.microsoft.com/office/drawing/2014/main" id="{6133CCFC-17FE-4310-AA75-F1DBB8E09A8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5" name="이력·보고서">
            <a:extLst>
              <a:ext uri="{FF2B5EF4-FFF2-40B4-BE49-F238E27FC236}">
                <a16:creationId xmlns:a16="http://schemas.microsoft.com/office/drawing/2014/main" id="{55233126-E3E6-4668-8D9C-DEF2400B0068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6" name="월별 비교">
            <a:extLst>
              <a:ext uri="{FF2B5EF4-FFF2-40B4-BE49-F238E27FC236}">
                <a16:creationId xmlns:a16="http://schemas.microsoft.com/office/drawing/2014/main" id="{B223D274-61EE-4DDA-B224-3CD01476D61C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855A02-5FC7-4C5B-93EA-ECCFF924024E}"/>
              </a:ext>
            </a:extLst>
          </p:cNvPr>
          <p:cNvSpPr>
            <a:spLocks noGrp="1"/>
          </p:cNvSpPr>
          <p:nvPr/>
        </p:nvSpPr>
        <p:spPr>
          <a:xfrm>
            <a:off x="695325" y="601027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기준·프로파일">
            <a:extLst>
              <a:ext uri="{FF2B5EF4-FFF2-40B4-BE49-F238E27FC236}">
                <a16:creationId xmlns:a16="http://schemas.microsoft.com/office/drawing/2014/main" id="{67DDCB05-87CE-4A62-BD72-0CFC429FCDF2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9D0DE4B6-6477-43EC-8045-E9217E97201D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기준 호환 관계 등록">
            <a:extLst>
              <a:ext uri="{FF2B5EF4-FFF2-40B4-BE49-F238E27FC236}">
                <a16:creationId xmlns:a16="http://schemas.microsoft.com/office/drawing/2014/main" id="{5A287B50-AD32-4290-8CB4-CAEB911323A1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기준 호환 관계 등록</a:t>
            </a:r>
          </a:p>
        </p:txBody>
      </p:sp>
      <p:sp>
        <p:nvSpPr>
          <p:cNvPr id="21" name="이전 기준 스냅샷 *">
            <a:extLst>
              <a:ext uri="{FF2B5EF4-FFF2-40B4-BE49-F238E27FC236}">
                <a16:creationId xmlns:a16="http://schemas.microsoft.com/office/drawing/2014/main" id="{16D62B0B-B37E-4A1C-A078-19DADF658DE2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이전 기준 스냅샷 *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AAE127-092C-450E-A8C4-75A81FCC7CCA}"/>
              </a:ext>
            </a:extLst>
          </p:cNvPr>
          <p:cNvSpPr>
            <a:spLocks noGrp="1"/>
          </p:cNvSpPr>
          <p:nvPr/>
        </p:nvSpPr>
        <p:spPr>
          <a:xfrm>
            <a:off x="2314575" y="3371850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Rocky 9 / SSH / kisa-2026.1 / prof-v1">
            <a:extLst>
              <a:ext uri="{FF2B5EF4-FFF2-40B4-BE49-F238E27FC236}">
                <a16:creationId xmlns:a16="http://schemas.microsoft.com/office/drawing/2014/main" id="{B2D8481E-8F1D-4A2A-80E2-402B0CABB96E}"/>
              </a:ext>
            </a:extLst>
          </p:cNvPr>
          <p:cNvSpPr>
            <a:spLocks noGrp="1"/>
          </p:cNvSpPr>
          <p:nvPr/>
        </p:nvSpPr>
        <p:spPr>
          <a:xfrm>
            <a:off x="2428875" y="3457575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Rocky 9 / SSH / kisa-2026.1 / prof-v1</a:t>
            </a:r>
          </a:p>
        </p:txBody>
      </p:sp>
      <p:sp>
        <p:nvSpPr>
          <p:cNvPr id="24" name="이후 기준 스냅샷 *">
            <a:extLst>
              <a:ext uri="{FF2B5EF4-FFF2-40B4-BE49-F238E27FC236}">
                <a16:creationId xmlns:a16="http://schemas.microsoft.com/office/drawing/2014/main" id="{0F888480-00F9-4AAC-8B02-BEF15FA6D4B3}"/>
              </a:ext>
            </a:extLst>
          </p:cNvPr>
          <p:cNvSpPr>
            <a:spLocks noGrp="1"/>
          </p:cNvSpPr>
          <p:nvPr/>
        </p:nvSpPr>
        <p:spPr>
          <a:xfrm>
            <a:off x="2314575" y="3981450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이후 기준 스냅샷 *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111634-5CDE-4396-8D60-1CD4B1DE413E}"/>
              </a:ext>
            </a:extLst>
          </p:cNvPr>
          <p:cNvSpPr>
            <a:spLocks noGrp="1"/>
          </p:cNvSpPr>
          <p:nvPr/>
        </p:nvSpPr>
        <p:spPr>
          <a:xfrm>
            <a:off x="2314575" y="4295775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Rocky 9 / SSH / kisa-2026.2 / prof-v2">
            <a:extLst>
              <a:ext uri="{FF2B5EF4-FFF2-40B4-BE49-F238E27FC236}">
                <a16:creationId xmlns:a16="http://schemas.microsoft.com/office/drawing/2014/main" id="{F902FA09-E043-40CE-95FF-0989A9BA09A4}"/>
              </a:ext>
            </a:extLst>
          </p:cNvPr>
          <p:cNvSpPr>
            <a:spLocks noGrp="1"/>
          </p:cNvSpPr>
          <p:nvPr/>
        </p:nvSpPr>
        <p:spPr>
          <a:xfrm>
            <a:off x="2428875" y="4381500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Rocky 9 / SSH / kisa-2026.2 / prof-v2</a:t>
            </a:r>
          </a:p>
        </p:txBody>
      </p:sp>
      <p:sp>
        <p:nvSpPr>
          <p:cNvPr id="27" name="적용 KISA 코드 *">
            <a:extLst>
              <a:ext uri="{FF2B5EF4-FFF2-40B4-BE49-F238E27FC236}">
                <a16:creationId xmlns:a16="http://schemas.microsoft.com/office/drawing/2014/main" id="{AC77DA38-F242-4173-922E-0E2EC3DF6722}"/>
              </a:ext>
            </a:extLst>
          </p:cNvPr>
          <p:cNvSpPr>
            <a:spLocks noGrp="1"/>
          </p:cNvSpPr>
          <p:nvPr/>
        </p:nvSpPr>
        <p:spPr>
          <a:xfrm>
            <a:off x="2314575" y="4905375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적용 KISA 코드 *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FA97F35-A885-4087-9C7E-0C5E4AA08321}"/>
              </a:ext>
            </a:extLst>
          </p:cNvPr>
          <p:cNvSpPr>
            <a:spLocks noGrp="1"/>
          </p:cNvSpPr>
          <p:nvPr/>
        </p:nvSpPr>
        <p:spPr>
          <a:xfrm>
            <a:off x="2314575" y="5219700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U-01 / 동일 판정 기준 확인">
            <a:extLst>
              <a:ext uri="{FF2B5EF4-FFF2-40B4-BE49-F238E27FC236}">
                <a16:creationId xmlns:a16="http://schemas.microsoft.com/office/drawing/2014/main" id="{F845EFC9-5503-45EC-9664-AEB8FF867385}"/>
              </a:ext>
            </a:extLst>
          </p:cNvPr>
          <p:cNvSpPr>
            <a:spLocks noGrp="1"/>
          </p:cNvSpPr>
          <p:nvPr/>
        </p:nvSpPr>
        <p:spPr>
          <a:xfrm>
            <a:off x="2428875" y="5305425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U-01 / 동일 판정 기준 확인</a:t>
            </a:r>
          </a:p>
        </p:txBody>
      </p:sp>
      <p:sp>
        <p:nvSpPr>
          <p:cNvPr id="30" name="비교 가능 근거 *">
            <a:extLst>
              <a:ext uri="{FF2B5EF4-FFF2-40B4-BE49-F238E27FC236}">
                <a16:creationId xmlns:a16="http://schemas.microsoft.com/office/drawing/2014/main" id="{74E8B166-B737-48C4-B415-1FE3FF2B2E86}"/>
              </a:ext>
            </a:extLst>
          </p:cNvPr>
          <p:cNvSpPr>
            <a:spLocks noGrp="1"/>
          </p:cNvSpPr>
          <p:nvPr/>
        </p:nvSpPr>
        <p:spPr>
          <a:xfrm>
            <a:off x="2314575" y="5829300"/>
            <a:ext cx="7734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비교 가능 근거 *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04486FD-DB84-41BE-BA40-E52667357283}"/>
              </a:ext>
            </a:extLst>
          </p:cNvPr>
          <p:cNvSpPr>
            <a:spLocks noGrp="1"/>
          </p:cNvSpPr>
          <p:nvPr/>
        </p:nvSpPr>
        <p:spPr>
          <a:xfrm>
            <a:off x="2314575" y="6143625"/>
            <a:ext cx="77343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판정 조건·적용성 동일 / 검토 자료 첨부">
            <a:extLst>
              <a:ext uri="{FF2B5EF4-FFF2-40B4-BE49-F238E27FC236}">
                <a16:creationId xmlns:a16="http://schemas.microsoft.com/office/drawing/2014/main" id="{2C07456F-0573-44BC-A579-BC4D5A20EF4B}"/>
              </a:ext>
            </a:extLst>
          </p:cNvPr>
          <p:cNvSpPr>
            <a:spLocks noGrp="1"/>
          </p:cNvSpPr>
          <p:nvPr/>
        </p:nvSpPr>
        <p:spPr>
          <a:xfrm>
            <a:off x="2428875" y="6229350"/>
            <a:ext cx="750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판정 조건·적용성 동일 / 검토 자료 첨부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6D29097-395A-4423-B88B-9F6623CC05ED}"/>
              </a:ext>
            </a:extLst>
          </p:cNvPr>
          <p:cNvSpPr>
            <a:spLocks noGrp="1"/>
          </p:cNvSpPr>
          <p:nvPr/>
        </p:nvSpPr>
        <p:spPr>
          <a:xfrm>
            <a:off x="2314575" y="6877050"/>
            <a:ext cx="2314575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검토 후 등록">
            <a:extLst>
              <a:ext uri="{FF2B5EF4-FFF2-40B4-BE49-F238E27FC236}">
                <a16:creationId xmlns:a16="http://schemas.microsoft.com/office/drawing/2014/main" id="{57011F08-8E06-414D-B314-1E697B95D9F0}"/>
              </a:ext>
            </a:extLst>
          </p:cNvPr>
          <p:cNvSpPr>
            <a:spLocks noGrp="1"/>
          </p:cNvSpPr>
          <p:nvPr/>
        </p:nvSpPr>
        <p:spPr>
          <a:xfrm>
            <a:off x="2390775" y="6943725"/>
            <a:ext cx="21621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검토 후 등록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1C35A51-53EB-4743-AD5E-E74BF6A9B4F8}"/>
              </a:ext>
            </a:extLst>
          </p:cNvPr>
          <p:cNvSpPr>
            <a:spLocks noGrp="1"/>
          </p:cNvSpPr>
          <p:nvPr/>
        </p:nvSpPr>
        <p:spPr>
          <a:xfrm>
            <a:off x="4838700" y="6877050"/>
            <a:ext cx="13716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취소">
            <a:extLst>
              <a:ext uri="{FF2B5EF4-FFF2-40B4-BE49-F238E27FC236}">
                <a16:creationId xmlns:a16="http://schemas.microsoft.com/office/drawing/2014/main" id="{021608FB-447E-49D6-A8A1-019D87210C11}"/>
              </a:ext>
            </a:extLst>
          </p:cNvPr>
          <p:cNvSpPr>
            <a:spLocks noGrp="1"/>
          </p:cNvSpPr>
          <p:nvPr/>
        </p:nvSpPr>
        <p:spPr>
          <a:xfrm>
            <a:off x="4914900" y="6943725"/>
            <a:ext cx="12192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취소</a:t>
            </a:r>
          </a:p>
        </p:txBody>
      </p:sp>
      <p:sp>
        <p:nvSpPr>
          <p:cNvPr id="37" name="등록자·시각·이유·근거 파일 보존 / 기존 보고서는 그대로 유지">
            <a:extLst>
              <a:ext uri="{FF2B5EF4-FFF2-40B4-BE49-F238E27FC236}">
                <a16:creationId xmlns:a16="http://schemas.microsoft.com/office/drawing/2014/main" id="{DA76740D-41B7-4151-9FD5-D40E0B197E8E}"/>
              </a:ext>
            </a:extLst>
          </p:cNvPr>
          <p:cNvSpPr>
            <a:spLocks noGrp="1"/>
          </p:cNvSpPr>
          <p:nvPr/>
        </p:nvSpPr>
        <p:spPr>
          <a:xfrm>
            <a:off x="2314575" y="7496175"/>
            <a:ext cx="795337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등록자·시각·이유·근거 파일 보존 / 기존 보고서는 그대로 유지</a:t>
            </a:r>
          </a:p>
        </p:txBody>
      </p:sp>
      <p:sp>
        <p:nvSpPr>
          <p:cNvPr id="38" name="입력 제한">
            <a:extLst>
              <a:ext uri="{FF2B5EF4-FFF2-40B4-BE49-F238E27FC236}">
                <a16:creationId xmlns:a16="http://schemas.microsoft.com/office/drawing/2014/main" id="{33D2FAEB-F232-4062-9778-15A8B68000F1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입력 제한</a:t>
            </a:r>
          </a:p>
        </p:txBody>
      </p:sp>
      <p:sp>
        <p:nvSpPr>
          <p:cNvPr id="39" name="이전→이후 방향, 코드별 적용 범위, OS·역할·정책·프로파일을 모두 고정합니다.">
            <a:extLst>
              <a:ext uri="{FF2B5EF4-FFF2-40B4-BE49-F238E27FC236}">
                <a16:creationId xmlns:a16="http://schemas.microsoft.com/office/drawing/2014/main" id="{C6A1F2A3-5C32-4E15-AFA4-76B2CBD59A53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이전→이후 방향, 코드별 적용 범위, OS·역할·정책·프로파일을 모두 고정합니다.</a:t>
            </a:r>
          </a:p>
        </p:txBody>
      </p:sp>
      <p:sp>
        <p:nvSpPr>
          <p:cNvPr id="40" name="금지 조건">
            <a:extLst>
              <a:ext uri="{FF2B5EF4-FFF2-40B4-BE49-F238E27FC236}">
                <a16:creationId xmlns:a16="http://schemas.microsoft.com/office/drawing/2014/main" id="{6DB0E224-E358-48ED-B854-A1DC02CDC2D8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금지 조건</a:t>
            </a:r>
          </a:p>
        </p:txBody>
      </p:sp>
      <p:sp>
        <p:nvSpPr>
          <p:cNvPr id="41" name="기준 내용이나 적용성이 달라졌는데 버전명만 바꾸어 호환 처리하지 않습니다.">
            <a:extLst>
              <a:ext uri="{FF2B5EF4-FFF2-40B4-BE49-F238E27FC236}">
                <a16:creationId xmlns:a16="http://schemas.microsoft.com/office/drawing/2014/main" id="{46DAA985-0C6C-4168-B0C8-1B30B1424A43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기준 내용이나 적용성이 달라졌는데 버전명만 바꾸어 호환 처리하지 않습니다.</a:t>
            </a:r>
          </a:p>
        </p:txBody>
      </p:sp>
      <p:sp>
        <p:nvSpPr>
          <p:cNvPr id="42" name="이력·권한">
            <a:extLst>
              <a:ext uri="{FF2B5EF4-FFF2-40B4-BE49-F238E27FC236}">
                <a16:creationId xmlns:a16="http://schemas.microsoft.com/office/drawing/2014/main" id="{62686281-A3E8-4002-821A-E6E16221B529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이력·권한</a:t>
            </a:r>
          </a:p>
        </p:txBody>
      </p:sp>
      <p:sp>
        <p:nvSpPr>
          <p:cNvPr id="43" name="관리자만 등록·폐기. 관계 자체도 버전 관리하며 감사 이력을 남깁니다.">
            <a:extLst>
              <a:ext uri="{FF2B5EF4-FFF2-40B4-BE49-F238E27FC236}">
                <a16:creationId xmlns:a16="http://schemas.microsoft.com/office/drawing/2014/main" id="{D8C932BC-B1E1-47FD-81B3-2BEDC1D2FDD3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관리자만 등록·폐기. 관계 자체도 버전 관리하며 감사 이력을 남깁니다.</a:t>
            </a:r>
          </a:p>
        </p:txBody>
      </p:sp>
      <p:sp>
        <p:nvSpPr>
          <p:cNvPr id="44" name="API 연결">
            <a:extLst>
              <a:ext uri="{FF2B5EF4-FFF2-40B4-BE49-F238E27FC236}">
                <a16:creationId xmlns:a16="http://schemas.microsoft.com/office/drawing/2014/main" id="{7F638D23-835D-4182-9746-BB7F4CCC07FD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45" name="POST /api/v2/criteria-compatibilities&#10;POST /{id}/r">
            <a:extLst>
              <a:ext uri="{FF2B5EF4-FFF2-40B4-BE49-F238E27FC236}">
                <a16:creationId xmlns:a16="http://schemas.microsoft.com/office/drawing/2014/main" id="{7AD0D674-AB82-42BB-A2E8-8C06C3C1618F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/api/v2/criteria-compatibilities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/{id}/revocations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신규 조회에 반영</a:t>
            </a:r>
          </a:p>
        </p:txBody>
      </p:sp>
    </p:spTree>
    <p:extLst>
      <p:ext uri="{BB962C8B-B14F-4D97-AF65-F5344CB8AC3E}">
        <p14:creationId xmlns:p14="http://schemas.microsoft.com/office/powerpoint/2010/main" val="1137238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UI-15  사용자 권한·자동 조치 정책">
            <a:extLst>
              <a:ext uri="{FF2B5EF4-FFF2-40B4-BE49-F238E27FC236}">
                <a16:creationId xmlns:a16="http://schemas.microsoft.com/office/drawing/2014/main" id="{8ECB54C2-082E-4CAE-A689-B87877CC505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UI-15  사용자 권한·자동 조치 정책</a:t>
            </a:r>
          </a:p>
        </p:txBody>
      </p:sp>
      <p:sp>
        <p:nvSpPr>
          <p:cNvPr id="2" name="계정 비활성화·서버별 권한과 사전 승인 범위를 관리">
            <a:extLst>
              <a:ext uri="{FF2B5EF4-FFF2-40B4-BE49-F238E27FC236}">
                <a16:creationId xmlns:a16="http://schemas.microsoft.com/office/drawing/2014/main" id="{E1F17BF3-ECE5-4726-B97C-10D5200B746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계정 비활성화·서버별 권한과 사전 승인 범위를 관리</a:t>
            </a:r>
          </a:p>
        </p:txBody>
      </p:sp>
      <p:sp>
        <p:nvSpPr>
          <p:cNvPr id="3" name="FR-13~14·24  ·  통합 설계안 v0.3">
            <a:extLst>
              <a:ext uri="{FF2B5EF4-FFF2-40B4-BE49-F238E27FC236}">
                <a16:creationId xmlns:a16="http://schemas.microsoft.com/office/drawing/2014/main" id="{4C28AC50-0514-4A92-AA2D-AF5BE5984738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FR-13~14·24  ·  통합 설계안 v0.3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EC753A-8944-489C-B7E6-5441A624E50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6019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06C2E9-1E73-47ED-BC31-CFBF055EBAF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9944100" cy="504825"/>
          </a:xfrm>
          <a:prstGeom prst="rect">
            <a:avLst/>
          </a:prstGeom>
          <a:solidFill>
            <a:srgbClr val="102A43"/>
          </a:solidFill>
          <a:ln w="11430">
            <a:solidFill>
              <a:srgbClr val="102A4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바다돌맹이   OS 보안 관리">
            <a:extLst>
              <a:ext uri="{FF2B5EF4-FFF2-40B4-BE49-F238E27FC236}">
                <a16:creationId xmlns:a16="http://schemas.microsoft.com/office/drawing/2014/main" id="{0D418A17-21B1-470D-A9A0-7554DD5106CA}"/>
              </a:ext>
            </a:extLst>
          </p:cNvPr>
          <p:cNvSpPr>
            <a:spLocks noGrp="1"/>
          </p:cNvSpPr>
          <p:nvPr/>
        </p:nvSpPr>
        <p:spPr>
          <a:xfrm>
            <a:off x="800100" y="18764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바다돌맹이   OS 보안 관리</a:t>
            </a:r>
          </a:p>
        </p:txBody>
      </p:sp>
      <p:sp>
        <p:nvSpPr>
          <p:cNvPr id="8" name="운영자  김민지">
            <a:extLst>
              <a:ext uri="{FF2B5EF4-FFF2-40B4-BE49-F238E27FC236}">
                <a16:creationId xmlns:a16="http://schemas.microsoft.com/office/drawing/2014/main" id="{D0F82948-7EC4-4C75-9240-3A5E6BA2F218}"/>
              </a:ext>
            </a:extLst>
          </p:cNvPr>
          <p:cNvSpPr>
            <a:spLocks noGrp="1"/>
          </p:cNvSpPr>
          <p:nvPr/>
        </p:nvSpPr>
        <p:spPr>
          <a:xfrm>
            <a:off x="8267700" y="18954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운영자  김민지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D7ED11-2A01-4E72-A967-D40195B2BB81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447800" cy="5514975"/>
          </a:xfrm>
          <a:prstGeom prst="rect">
            <a:avLst/>
          </a:prstGeom>
          <a:solidFill>
            <a:srgbClr val="EEF4F7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대시보드">
            <a:extLst>
              <a:ext uri="{FF2B5EF4-FFF2-40B4-BE49-F238E27FC236}">
                <a16:creationId xmlns:a16="http://schemas.microsoft.com/office/drawing/2014/main" id="{F2DB782A-0280-418A-ABB8-F5C01301D85D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대시보드</a:t>
            </a:r>
          </a:p>
        </p:txBody>
      </p:sp>
      <p:sp>
        <p:nvSpPr>
          <p:cNvPr id="11" name="서버·Agent">
            <a:extLst>
              <a:ext uri="{FF2B5EF4-FFF2-40B4-BE49-F238E27FC236}">
                <a16:creationId xmlns:a16="http://schemas.microsoft.com/office/drawing/2014/main" id="{1B51752B-5143-4B4B-89B5-DEE2DF78F01D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서버·Agent</a:t>
            </a:r>
          </a:p>
        </p:txBody>
      </p:sp>
      <p:sp>
        <p:nvSpPr>
          <p:cNvPr id="12" name="점검 실행">
            <a:extLst>
              <a:ext uri="{FF2B5EF4-FFF2-40B4-BE49-F238E27FC236}">
                <a16:creationId xmlns:a16="http://schemas.microsoft.com/office/drawing/2014/main" id="{509655E4-E1FD-4C88-B12D-A359166C6D33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실행</a:t>
            </a:r>
          </a:p>
        </p:txBody>
      </p:sp>
      <p:sp>
        <p:nvSpPr>
          <p:cNvPr id="13" name="점검 결과">
            <a:extLst>
              <a:ext uri="{FF2B5EF4-FFF2-40B4-BE49-F238E27FC236}">
                <a16:creationId xmlns:a16="http://schemas.microsoft.com/office/drawing/2014/main" id="{CFB3423E-A8E0-4045-A3A6-099D5B943EF8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점검 결과</a:t>
            </a:r>
          </a:p>
        </p:txBody>
      </p:sp>
      <p:sp>
        <p:nvSpPr>
          <p:cNvPr id="14" name="조치 관리">
            <a:extLst>
              <a:ext uri="{FF2B5EF4-FFF2-40B4-BE49-F238E27FC236}">
                <a16:creationId xmlns:a16="http://schemas.microsoft.com/office/drawing/2014/main" id="{7E329640-0AFA-4F98-A5D1-8EFBFB24DA84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조치 관리</a:t>
            </a:r>
          </a:p>
        </p:txBody>
      </p:sp>
      <p:sp>
        <p:nvSpPr>
          <p:cNvPr id="15" name="이력·보고서">
            <a:extLst>
              <a:ext uri="{FF2B5EF4-FFF2-40B4-BE49-F238E27FC236}">
                <a16:creationId xmlns:a16="http://schemas.microsoft.com/office/drawing/2014/main" id="{8EC833E8-8D47-427F-B956-39980A6669A0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이력·보고서</a:t>
            </a:r>
          </a:p>
        </p:txBody>
      </p:sp>
      <p:sp>
        <p:nvSpPr>
          <p:cNvPr id="16" name="월별 비교">
            <a:extLst>
              <a:ext uri="{FF2B5EF4-FFF2-40B4-BE49-F238E27FC236}">
                <a16:creationId xmlns:a16="http://schemas.microsoft.com/office/drawing/2014/main" id="{3F434BE3-1EED-4DD1-B637-9897E6CF45B4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월별 비교</a:t>
            </a:r>
          </a:p>
        </p:txBody>
      </p:sp>
      <p:sp>
        <p:nvSpPr>
          <p:cNvPr id="17" name="기준·프로파일">
            <a:extLst>
              <a:ext uri="{FF2B5EF4-FFF2-40B4-BE49-F238E27FC236}">
                <a16:creationId xmlns:a16="http://schemas.microsoft.com/office/drawing/2014/main" id="{F5E076D8-7012-448B-91D5-C126F8FB24ED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기준·프로파일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29FCC8-B45F-4C7E-A1ED-DFA1ADEDFAE3}"/>
              </a:ext>
            </a:extLst>
          </p:cNvPr>
          <p:cNvSpPr>
            <a:spLocks noGrp="1"/>
          </p:cNvSpPr>
          <p:nvPr/>
        </p:nvSpPr>
        <p:spPr>
          <a:xfrm>
            <a:off x="695325" y="6524625"/>
            <a:ext cx="1276350" cy="400050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권한 관리">
            <a:extLst>
              <a:ext uri="{FF2B5EF4-FFF2-40B4-BE49-F238E27FC236}">
                <a16:creationId xmlns:a16="http://schemas.microsoft.com/office/drawing/2014/main" id="{2E12A5A5-B6A0-4350-837E-50B135651C02}"/>
              </a:ext>
            </a:extLst>
          </p:cNvPr>
          <p:cNvSpPr>
            <a:spLocks noGrp="1"/>
          </p:cNvSpPr>
          <p:nvPr/>
        </p:nvSpPr>
        <p:spPr>
          <a:xfrm>
            <a:off x="781050" y="66103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권한 관리</a:t>
            </a:r>
          </a:p>
        </p:txBody>
      </p:sp>
      <p:sp>
        <p:nvSpPr>
          <p:cNvPr id="20" name="권한 및 사전 승인 정책">
            <a:extLst>
              <a:ext uri="{FF2B5EF4-FFF2-40B4-BE49-F238E27FC236}">
                <a16:creationId xmlns:a16="http://schemas.microsoft.com/office/drawing/2014/main" id="{4BD1009D-FB0D-40BC-B424-D4E7B55C32EC}"/>
              </a:ext>
            </a:extLst>
          </p:cNvPr>
          <p:cNvSpPr>
            <a:spLocks noGrp="1"/>
          </p:cNvSpPr>
          <p:nvPr/>
        </p:nvSpPr>
        <p:spPr>
          <a:xfrm>
            <a:off x="2314575" y="2486025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권한 및 사전 승인 정책</a:t>
            </a:r>
          </a:p>
        </p:txBody>
      </p:sp>
      <p:sp>
        <p:nvSpPr>
          <p:cNvPr id="21" name="탭: [사용자·역할]   [서버 범위]   [자동 조치 사전 승인]">
            <a:extLst>
              <a:ext uri="{FF2B5EF4-FFF2-40B4-BE49-F238E27FC236}">
                <a16:creationId xmlns:a16="http://schemas.microsoft.com/office/drawing/2014/main" id="{B1BF9750-9504-45D8-8851-3D8D9562DA10}"/>
              </a:ext>
            </a:extLst>
          </p:cNvPr>
          <p:cNvSpPr>
            <a:spLocks noGrp="1"/>
          </p:cNvSpPr>
          <p:nvPr/>
        </p:nvSpPr>
        <p:spPr>
          <a:xfrm>
            <a:off x="2314575" y="3057525"/>
            <a:ext cx="7953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탭: [사용자·역할]   [서버 범위]   [자동 조치 사전 승인]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2314575" y="3762375"/>
          <a:ext cx="7953375" cy="26670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설정 예시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정책 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파일 권한 조치 / grant-001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대상·코드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srv-lnx-01 / U-16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허용 설정값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owner=root / group=root / mode=0644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유효기간 KST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2026-09-15 09:00 ~ 18:00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승인자·근거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권한 사용자 / 운영 정책 기준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백업·현재값·모듈·서비스 확인 규칙은 실행 시에도 검사">
            <a:extLst>
              <a:ext uri="{FF2B5EF4-FFF2-40B4-BE49-F238E27FC236}">
                <a16:creationId xmlns:a16="http://schemas.microsoft.com/office/drawing/2014/main" id="{8483177E-8FB4-4B1B-8210-CD3E02FB2C5A}"/>
              </a:ext>
            </a:extLst>
          </p:cNvPr>
          <p:cNvSpPr>
            <a:spLocks noGrp="1"/>
          </p:cNvSpPr>
          <p:nvPr/>
        </p:nvSpPr>
        <p:spPr>
          <a:xfrm>
            <a:off x="2314575" y="6667500"/>
            <a:ext cx="7953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백업·현재값·모듈·서비스 확인 규칙은 실행 시에도 검사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11C57B-4CCF-4721-81EF-F93F8B2B9F4F}"/>
              </a:ext>
            </a:extLst>
          </p:cNvPr>
          <p:cNvSpPr>
            <a:spLocks noGrp="1"/>
          </p:cNvSpPr>
          <p:nvPr/>
        </p:nvSpPr>
        <p:spPr>
          <a:xfrm>
            <a:off x="2314575" y="7258050"/>
            <a:ext cx="2876550" cy="409575"/>
          </a:xfrm>
          <a:prstGeom prst="rect">
            <a:avLst/>
          </a:prstGeom>
          <a:solidFill>
            <a:srgbClr val="126E82"/>
          </a:solidFill>
          <a:ln w="11430">
            <a:solidFill>
              <a:srgbClr val="126E8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사전 승인 정책 등록">
            <a:extLst>
              <a:ext uri="{FF2B5EF4-FFF2-40B4-BE49-F238E27FC236}">
                <a16:creationId xmlns:a16="http://schemas.microsoft.com/office/drawing/2014/main" id="{1381E8DF-1681-4701-9E23-D615AB1F0815}"/>
              </a:ext>
            </a:extLst>
          </p:cNvPr>
          <p:cNvSpPr>
            <a:spLocks noGrp="1"/>
          </p:cNvSpPr>
          <p:nvPr/>
        </p:nvSpPr>
        <p:spPr>
          <a:xfrm>
            <a:off x="2390775" y="7324725"/>
            <a:ext cx="27241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사전 승인 정책 등록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0E6A19E-AFBC-494B-9A66-4997D9E4A4E2}"/>
              </a:ext>
            </a:extLst>
          </p:cNvPr>
          <p:cNvSpPr>
            <a:spLocks noGrp="1"/>
          </p:cNvSpPr>
          <p:nvPr/>
        </p:nvSpPr>
        <p:spPr>
          <a:xfrm>
            <a:off x="5410200" y="7258050"/>
            <a:ext cx="16954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CFDB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정책 폐기">
            <a:extLst>
              <a:ext uri="{FF2B5EF4-FFF2-40B4-BE49-F238E27FC236}">
                <a16:creationId xmlns:a16="http://schemas.microsoft.com/office/drawing/2014/main" id="{9FD1DEF3-91AA-463E-8162-CB027FAD391B}"/>
              </a:ext>
            </a:extLst>
          </p:cNvPr>
          <p:cNvSpPr>
            <a:spLocks noGrp="1"/>
          </p:cNvSpPr>
          <p:nvPr/>
        </p:nvSpPr>
        <p:spPr>
          <a:xfrm>
            <a:off x="5486400" y="7324725"/>
            <a:ext cx="154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정책 폐기</a:t>
            </a:r>
          </a:p>
        </p:txBody>
      </p:sp>
      <p:sp>
        <p:nvSpPr>
          <p:cNvPr id="28" name="사용자 관리">
            <a:extLst>
              <a:ext uri="{FF2B5EF4-FFF2-40B4-BE49-F238E27FC236}">
                <a16:creationId xmlns:a16="http://schemas.microsoft.com/office/drawing/2014/main" id="{76977CE5-FCE2-4DFD-BC66-D8D7BEC97E1B}"/>
              </a:ext>
            </a:extLst>
          </p:cNvPr>
          <p:cNvSpPr>
            <a:spLocks noGrp="1"/>
          </p:cNvSpPr>
          <p:nvPr/>
        </p:nvSpPr>
        <p:spPr>
          <a:xfrm>
            <a:off x="10858500" y="18097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사용자 관리</a:t>
            </a:r>
          </a:p>
        </p:txBody>
      </p:sp>
      <p:sp>
        <p:nvSpPr>
          <p:cNvPr id="29" name="로그아웃·비활성화 시 세션을 무효화합니다. API에서 매번 권한과 계정 상태를 검사합니다.">
            <a:extLst>
              <a:ext uri="{FF2B5EF4-FFF2-40B4-BE49-F238E27FC236}">
                <a16:creationId xmlns:a16="http://schemas.microsoft.com/office/drawing/2014/main" id="{02C6421B-987A-4C71-B6B4-CE6ECD3BE7FF}"/>
              </a:ext>
            </a:extLst>
          </p:cNvPr>
          <p:cNvSpPr>
            <a:spLocks noGrp="1"/>
          </p:cNvSpPr>
          <p:nvPr/>
        </p:nvSpPr>
        <p:spPr>
          <a:xfrm>
            <a:off x="10858500" y="21907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로그아웃·비활성화 시 세션을 무효화합니다. API에서 매번 권한과 계정 상태를 검사합니다.</a:t>
            </a:r>
          </a:p>
        </p:txBody>
      </p:sp>
      <p:sp>
        <p:nvSpPr>
          <p:cNvPr id="30" name="권한 단위">
            <a:extLst>
              <a:ext uri="{FF2B5EF4-FFF2-40B4-BE49-F238E27FC236}">
                <a16:creationId xmlns:a16="http://schemas.microsoft.com/office/drawing/2014/main" id="{0F8895CD-9E00-49FA-B93E-7E5F25C9C2D8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권한 단위</a:t>
            </a:r>
          </a:p>
        </p:txBody>
      </p:sp>
      <p:sp>
        <p:nvSpPr>
          <p:cNvPr id="31" name="조회·점검·하드닝·승인·롤백·관리 권한 + 서버 범위. 자기 승인 금지를 기본 제안합니다.">
            <a:extLst>
              <a:ext uri="{FF2B5EF4-FFF2-40B4-BE49-F238E27FC236}">
                <a16:creationId xmlns:a16="http://schemas.microsoft.com/office/drawing/2014/main" id="{78412908-AD98-4B2E-960F-8D3DC4831918}"/>
              </a:ext>
            </a:extLst>
          </p:cNvPr>
          <p:cNvSpPr>
            <a:spLocks noGrp="1"/>
          </p:cNvSpPr>
          <p:nvPr/>
        </p:nvSpPr>
        <p:spPr>
          <a:xfrm>
            <a:off x="10858500" y="36385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조회·점검·하드닝·승인·롤백·관리 권한 + 서버 범위. 자기 승인 금지를 기본 제안합니다.</a:t>
            </a:r>
          </a:p>
        </p:txBody>
      </p:sp>
      <p:sp>
        <p:nvSpPr>
          <p:cNvPr id="32" name="AUTO 정책">
            <a:extLst>
              <a:ext uri="{FF2B5EF4-FFF2-40B4-BE49-F238E27FC236}">
                <a16:creationId xmlns:a16="http://schemas.microsoft.com/office/drawing/2014/main" id="{245C6947-23C1-4EB7-98AB-C3E247A31D6A}"/>
              </a:ext>
            </a:extLst>
          </p:cNvPr>
          <p:cNvSpPr>
            <a:spLocks noGrp="1"/>
          </p:cNvSpPr>
          <p:nvPr/>
        </p:nvSpPr>
        <p:spPr>
          <a:xfrm>
            <a:off x="10858500" y="47053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AUTO 정책</a:t>
            </a:r>
          </a:p>
        </p:txBody>
      </p:sp>
      <p:sp>
        <p:nvSpPr>
          <p:cNvPr id="33" name="서버·코드·설정값·유효기간·승인자를 고정. 범위 초과는 실행 차단 후 승인 재요청.">
            <a:extLst>
              <a:ext uri="{FF2B5EF4-FFF2-40B4-BE49-F238E27FC236}">
                <a16:creationId xmlns:a16="http://schemas.microsoft.com/office/drawing/2014/main" id="{1E0754B9-88F8-45B3-91A7-428A3C3AB9B5}"/>
              </a:ext>
            </a:extLst>
          </p:cNvPr>
          <p:cNvSpPr>
            <a:spLocks noGrp="1"/>
          </p:cNvSpPr>
          <p:nvPr/>
        </p:nvSpPr>
        <p:spPr>
          <a:xfrm>
            <a:off x="10858500" y="50863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서버·코드·설정값·유효기간·승인자를 고정. 범위 초과는 실행 차단 후 승인 재요청.</a:t>
            </a:r>
          </a:p>
        </p:txBody>
      </p:sp>
      <p:sp>
        <p:nvSpPr>
          <p:cNvPr id="34" name="API 연결">
            <a:extLst>
              <a:ext uri="{FF2B5EF4-FFF2-40B4-BE49-F238E27FC236}">
                <a16:creationId xmlns:a16="http://schemas.microsoft.com/office/drawing/2014/main" id="{FFC1918A-135E-4D51-A236-97E09109821C}"/>
              </a:ext>
            </a:extLst>
          </p:cNvPr>
          <p:cNvSpPr>
            <a:spLocks noGrp="1"/>
          </p:cNvSpPr>
          <p:nvPr/>
        </p:nvSpPr>
        <p:spPr>
          <a:xfrm>
            <a:off x="10858500" y="6153150"/>
            <a:ext cx="377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API 연결</a:t>
            </a:r>
          </a:p>
        </p:txBody>
      </p:sp>
      <p:sp>
        <p:nvSpPr>
          <p:cNvPr id="35" name="POST /api/v2/approval-grants&#10;POST /users/{id}/disa">
            <a:extLst>
              <a:ext uri="{FF2B5EF4-FFF2-40B4-BE49-F238E27FC236}">
                <a16:creationId xmlns:a16="http://schemas.microsoft.com/office/drawing/2014/main" id="{D2496320-3C57-4770-9B7D-6CBD6E7B60A7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37719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/api/v2/approval-grants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POST /users/{id}/disable</a:t>
            </a:r>
          </a:p>
          <a:p>
            <a:pPr algn="l">
              <a:def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PUT /users/{id}/permissions</a:t>
            </a:r>
          </a:p>
        </p:txBody>
      </p:sp>
    </p:spTree>
    <p:extLst>
      <p:ext uri="{BB962C8B-B14F-4D97-AF65-F5344CB8AC3E}">
        <p14:creationId xmlns:p14="http://schemas.microsoft.com/office/powerpoint/2010/main" val="1282669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화면 공통 검증과 오류 안내">
            <a:extLst>
              <a:ext uri="{FF2B5EF4-FFF2-40B4-BE49-F238E27FC236}">
                <a16:creationId xmlns:a16="http://schemas.microsoft.com/office/drawing/2014/main" id="{57D9F4A8-9425-42AB-BC20-03AE56ED819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화면 공통 검증과 오류 안내</a:t>
            </a:r>
          </a:p>
        </p:txBody>
      </p:sp>
      <p:sp>
        <p:nvSpPr>
          <p:cNvPr id="2" name="입력·권한·빈 결과·비동기 상태를 일관되게 처리">
            <a:extLst>
              <a:ext uri="{FF2B5EF4-FFF2-40B4-BE49-F238E27FC236}">
                <a16:creationId xmlns:a16="http://schemas.microsoft.com/office/drawing/2014/main" id="{36E64024-6DA2-4E78-89B9-AB30CED2302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입력·권한·빈 결과·비동기 상태를 일관되게 처리</a:t>
            </a:r>
          </a:p>
        </p:txBody>
      </p:sp>
      <p:sp>
        <p:nvSpPr>
          <p:cNvPr id="3" name="NFR-01~03, NFR-06, NFR-08  ·  통합 설계안 v0.3">
            <a:extLst>
              <a:ext uri="{FF2B5EF4-FFF2-40B4-BE49-F238E27FC236}">
                <a16:creationId xmlns:a16="http://schemas.microsoft.com/office/drawing/2014/main" id="{DBD80FCD-7359-4A29-A396-B6A1CD944C90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NFR-01~03, NFR-06, NFR-08  ·  통합 설계안 v0.3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09600" y="1809750"/>
          <a:ext cx="14020800" cy="5905503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상황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 동작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검증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오류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필드 옆에 원인과 수정 방법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필수값·길이·enum·IP·코드 허용목록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조회 결과 없음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검색 조건 유지, 초기화 버튼 제공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빈 items와 다음 cursor 없음 반환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요청 처리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버튼 비활성화, 작업 ID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Idempotency-Key + 요청 본문 일치 검사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권한 부족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버튼 숨김 또는 접근 불가 안내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API에서 역할·대상 서버 권한 재검사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오프라인·연결 실패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마지막 수신시각과 재시도 안내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중앙 수신시각 기준 연결 상태 판정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승인·정책 변경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기존 승인 무효와 재검토 안내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승인한 작업 스냅샷과 현재 상태 대조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부분 실패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성공 결과 유지, 실패 항목만 재점검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항목별 오류 코드와 재시도 가능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증적·로그 조회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비밀값 마스킹, 다운로드 권한 확인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토큰·암호·개인키 원문 제외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703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용자 화면용 API 목록">
            <a:extLst>
              <a:ext uri="{FF2B5EF4-FFF2-40B4-BE49-F238E27FC236}">
                <a16:creationId xmlns:a16="http://schemas.microsoft.com/office/drawing/2014/main" id="{7945F4A1-ACC6-49B9-94DD-7107399D9B6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사용자 화면용 API 목록</a:t>
            </a:r>
          </a:p>
        </p:txBody>
      </p:sp>
      <p:sp>
        <p:nvSpPr>
          <p:cNvPr id="2" name="기준 경로 /api/v2 · 사용자 세션과 대상별 권한을 검증하는 설계안">
            <a:extLst>
              <a:ext uri="{FF2B5EF4-FFF2-40B4-BE49-F238E27FC236}">
                <a16:creationId xmlns:a16="http://schemas.microsoft.com/office/drawing/2014/main" id="{884FCFBF-9B0C-4E89-A0DD-BB5A97F751C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 경로 /api/v2 · 사용자 세션과 대상별 권한을 검증하는 설계안</a:t>
            </a:r>
          </a:p>
        </p:txBody>
      </p:sp>
      <p:sp>
        <p:nvSpPr>
          <p:cNvPr id="3" name="FR-01, FR-09~24  ·  통합 설계안 v0.3">
            <a:extLst>
              <a:ext uri="{FF2B5EF4-FFF2-40B4-BE49-F238E27FC236}">
                <a16:creationId xmlns:a16="http://schemas.microsoft.com/office/drawing/2014/main" id="{3E81BF52-AB0E-4AAB-A954-30E7C83AE2BA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FR-01, FR-09~24  ·  통합 설계안 v0.3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09600" y="1752600"/>
          <a:ext cx="14020800" cy="6096002"/>
        </p:xfrm>
        <a:graphic>
          <a:graphicData uri="http://schemas.openxmlformats.org/drawingml/2006/table">
            <a:tbl>
              <a:tblPr/>
              <a:tblGrid>
                <a:gridCol w="565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182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메서드·경로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용도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주요 요청·응답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/servers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name, ip, os, profile_id / server_id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 /servers, /agents/{id}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목록·Agent 상세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필터·cursor / 연결·버전·실패 원인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/servers/{id}/enrollment-tokens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토큰 발급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만료·대상 바인딩 / 1회용 토큰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/jobs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점검·조치·재점검·복구 요청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action, server_ids, item_ids / job_id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/jobs/{id}/approvals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승인·반려 기록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decision, reason / approval_id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 /jobs/{id}, /results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진행률·결과 검색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job_id, status, severity, item_id / items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 /results/{id}, /evidence/{id}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판정·증적 상세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ID / 근거·기준·증적 참조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/manual-actions, /results/{id}/reviews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 처리·판정 근거 기록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result_id, reason, evidence_ids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 /comparisons, /reports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전후 비교·보고서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서버·작업·기간 / 집계·이력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/results/{id}/explanations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AI 설명 요청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 결과 참조 / 설명·근거·시각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339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ent 통신용 API 목록">
            <a:extLst>
              <a:ext uri="{FF2B5EF4-FFF2-40B4-BE49-F238E27FC236}">
                <a16:creationId xmlns:a16="http://schemas.microsoft.com/office/drawing/2014/main" id="{18BE1B9D-DE63-44BD-89E5-72F674AA2AD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Agent 통신용 API 목록</a:t>
            </a:r>
          </a:p>
        </p:txBody>
      </p:sp>
      <p:sp>
        <p:nvSpPr>
          <p:cNvPr id="2" name="기준 경로 /agent-api/v2 · Agent 토큰을 서버·Agent ID에 바인딩">
            <a:extLst>
              <a:ext uri="{FF2B5EF4-FFF2-40B4-BE49-F238E27FC236}">
                <a16:creationId xmlns:a16="http://schemas.microsoft.com/office/drawing/2014/main" id="{7634E077-B14F-4464-B3A9-7B600FC8BC6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기준 경로 /agent-api/v2 · Agent 토큰을 서버·Agent ID에 바인딩</a:t>
            </a:r>
          </a:p>
        </p:txBody>
      </p:sp>
      <p:sp>
        <p:nvSpPr>
          <p:cNvPr id="3" name="FR-01~04, FR-08, FR-13, FR-16  ·  통합 설계안 v0.3">
            <a:extLst>
              <a:ext uri="{FF2B5EF4-FFF2-40B4-BE49-F238E27FC236}">
                <a16:creationId xmlns:a16="http://schemas.microsoft.com/office/drawing/2014/main" id="{04387AB8-B24E-407A-8B76-A63486372239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FR-01~04, FR-08, FR-13, FR-16  ·  통합 설계안 v0.3</a:t>
            </a:r>
          </a:p>
        </p:txBody>
      </p:sp>
      <p:graphicFrame>
        <p:nvGraphicFramePr>
          <p:cNvPr id="11" name="표 10"/>
          <p:cNvGraphicFramePr/>
          <p:nvPr/>
        </p:nvGraphicFramePr>
        <p:xfrm>
          <a:off x="609600" y="1800225"/>
          <a:ext cx="14020800" cy="5305428"/>
        </p:xfrm>
        <a:graphic>
          <a:graphicData uri="http://schemas.openxmlformats.org/drawingml/2006/table">
            <a:tbl>
              <a:tblPr/>
              <a:tblGrid>
                <a:gridCol w="543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49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메서드·경로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요청 방향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요청·응답 핵심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응답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/enrollments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헤더·호스트 정보 / ID·운영 토큰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/credentials/rotate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현재 토큰 / 교체 토큰·만료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/heartbeat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버전·진행 작업·상태 / 중앙시각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/inventory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OS·역할·서비스 / inventory_version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/tasks/claim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capabilities / 작업 1개·lease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 / 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/tasks/{id}/events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시작·진행·lease 갱신 / ack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/tasks/{id}/results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 결과·수행 기록 / accepted_ids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4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/evidence-uploads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Agent → 중앙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마스킹 증적 파일·해시 / evidence_id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중앙이 작업을 등록하면 Agent의 다음 claim 응답에 포함합니다. API에서 명령문·">
            <a:extLst>
              <a:ext uri="{FF2B5EF4-FFF2-40B4-BE49-F238E27FC236}">
                <a16:creationId xmlns:a16="http://schemas.microsoft.com/office/drawing/2014/main" id="{8B39D0A7-544C-4C18-AC9D-E1698055AD42}"/>
              </a:ext>
            </a:extLst>
          </p:cNvPr>
          <p:cNvSpPr>
            <a:spLocks noGrp="1"/>
          </p:cNvSpPr>
          <p:nvPr/>
        </p:nvSpPr>
        <p:spPr>
          <a:xfrm>
            <a:off x="676275" y="7324725"/>
            <a:ext cx="13716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중앙이 작업을 등록하면 Agent의 다음 claim 응답에 포함합니다. API에서 명령문·스크립트 본문을 받지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062684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월별 비교·권한 관리 API">
            <a:extLst>
              <a:ext uri="{FF2B5EF4-FFF2-40B4-BE49-F238E27FC236}">
                <a16:creationId xmlns:a16="http://schemas.microsoft.com/office/drawing/2014/main" id="{87B0D550-9A4C-4498-B01F-6F1634277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월별 비교·권한 관리 API</a:t>
            </a:r>
          </a:p>
        </p:txBody>
      </p:sp>
      <p:sp>
        <p:nvSpPr>
          <p:cNvPr id="2" name="모든 경로는 /api/v2 기준 · 권한과 대상 서버 범위를 서버에서 검사">
            <a:extLst>
              <a:ext uri="{FF2B5EF4-FFF2-40B4-BE49-F238E27FC236}">
                <a16:creationId xmlns:a16="http://schemas.microsoft.com/office/drawing/2014/main" id="{925075D4-25A8-4718-8E05-CD0D631E776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모든 경로는 /api/v2 기준 · 권한과 대상 서버 범위를 서버에서 검사</a:t>
            </a:r>
          </a:p>
        </p:txBody>
      </p:sp>
      <p:sp>
        <p:nvSpPr>
          <p:cNvPr id="3" name="FR-19~20·24  ·  통합 설계안 v0.3">
            <a:extLst>
              <a:ext uri="{FF2B5EF4-FFF2-40B4-BE49-F238E27FC236}">
                <a16:creationId xmlns:a16="http://schemas.microsoft.com/office/drawing/2014/main" id="{E6665A07-EC8B-40FB-8B05-69D2975432D0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FR-19~20·24  ·  통합 설계안 v0.3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09600" y="1790700"/>
          <a:ext cx="14020800" cy="5905503"/>
        </p:xfrm>
        <a:graphic>
          <a:graphicData uri="http://schemas.openxmlformats.org/drawingml/2006/table">
            <a:tbl>
              <a:tblPr/>
              <a:tblGrid>
                <a:gridCol w="654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메서드·경로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입력·동작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응답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/monthly-comparisons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baseline_month, comparison_month, filters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201 / comparison_id, snapshot_id, as_of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 /monthly-comparisons/{id}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고정 스냅샷의 요약·서버·영역·중요도 집계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 / 범위별 합계·제외 사유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 /monthly-comparisons/{id}/items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classification, exclusion, cursor, 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 / 고정 결과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 /monthly-comparisons/{id}/items/{serverId}/{itemId}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대표 회차·판정·기준·증적·재발 근거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 / 항목 상세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/criteria-compatibilities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방향·코드·이전/이후 기준·검토 근거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201 / 관계 ID·버전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/approval-grants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대상·코드·설정값·기간·승인 근거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201 / grant_id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/users/{id}/disable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계정 비활성화·세션 종료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204 / 감사 기록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PUT /users/{id}/permissions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역할별 행위 권한 + server_ids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5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 / 변경된 권한 버전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394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등록·Heartbeat JSON 예시">
            <a:extLst>
              <a:ext uri="{FF2B5EF4-FFF2-40B4-BE49-F238E27FC236}">
                <a16:creationId xmlns:a16="http://schemas.microsoft.com/office/drawing/2014/main" id="{0C41466A-BEF7-4315-8697-70D75A138B5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등록·Heartbeat JSON 예시</a:t>
            </a:r>
          </a:p>
        </p:txBody>
      </p:sp>
      <p:sp>
        <p:nvSpPr>
          <p:cNvPr id="2" name="예시 값 · 등록 비밀값은 헤더로 전달하고 화면·로그에서 제외">
            <a:extLst>
              <a:ext uri="{FF2B5EF4-FFF2-40B4-BE49-F238E27FC236}">
                <a16:creationId xmlns:a16="http://schemas.microsoft.com/office/drawing/2014/main" id="{C667199C-8C67-4A7C-A46D-E7804CB9987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예시 값 · 등록 비밀값은 헤더로 전달하고 화면·로그에서 제외</a:t>
            </a:r>
          </a:p>
        </p:txBody>
      </p:sp>
      <p:sp>
        <p:nvSpPr>
          <p:cNvPr id="3" name="FR-01~03, NFR-02, NFR-10  ·  통합 설계안 v0.3">
            <a:extLst>
              <a:ext uri="{FF2B5EF4-FFF2-40B4-BE49-F238E27FC236}">
                <a16:creationId xmlns:a16="http://schemas.microsoft.com/office/drawing/2014/main" id="{4EF84182-6388-4095-87A6-151BC528BE7F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FR-01~03, NFR-02, NFR-10  ·  통합 설계안 v0.3</a:t>
            </a:r>
          </a:p>
        </p:txBody>
      </p:sp>
      <p:sp>
        <p:nvSpPr>
          <p:cNvPr id="5" name="POST /agent-api/v2/enrollments  요청">
            <a:extLst>
              <a:ext uri="{FF2B5EF4-FFF2-40B4-BE49-F238E27FC236}">
                <a16:creationId xmlns:a16="http://schemas.microsoft.com/office/drawing/2014/main" id="{0120337A-1E7D-4918-96E0-EEE1D33F4B9A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6838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/agent-api/v2/enrollments  요청</a:t>
            </a:r>
          </a:p>
        </p:txBody>
      </p:sp>
      <p:sp>
        <p:nvSpPr>
          <p:cNvPr id="6" name="{&#10;  &quot;schema_version&quot;: &quot;2.0&quot;,&#10;  &quot;message_id&quot;: &quot;msg-">
            <a:extLst>
              <a:ext uri="{FF2B5EF4-FFF2-40B4-BE49-F238E27FC236}">
                <a16:creationId xmlns:a16="http://schemas.microsoft.com/office/drawing/2014/main" id="{BB8D8253-1FF3-4EFF-B8E3-EF063CB5D52E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6838950" cy="51435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"schema_version": "2.0",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"message_id": "msg-enroll-001",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"sent_at": "2026-09-15T04:00:00Z",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"enrollment_id": "enr-001",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"hostname": "rocky-web-01",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"agent_version": "0.1.0",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"os": {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"family": "UNIX",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"distribution": "rocky",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"version": "9"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"capabilities": ["CHECK", "HARDEN", "RECHECK", "ROLLBACK"]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7" name="POST /agent-api/v2/heartbeat  요청">
            <a:extLst>
              <a:ext uri="{FF2B5EF4-FFF2-40B4-BE49-F238E27FC236}">
                <a16:creationId xmlns:a16="http://schemas.microsoft.com/office/drawing/2014/main" id="{7BE8D811-ED08-4700-8BEA-D46D64F76F37}"/>
              </a:ext>
            </a:extLst>
          </p:cNvPr>
          <p:cNvSpPr>
            <a:spLocks noGrp="1"/>
          </p:cNvSpPr>
          <p:nvPr/>
        </p:nvSpPr>
        <p:spPr>
          <a:xfrm>
            <a:off x="7772400" y="175260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/agent-api/v2/heartbeat  요청</a:t>
            </a:r>
          </a:p>
        </p:txBody>
      </p:sp>
      <p:sp>
        <p:nvSpPr>
          <p:cNvPr id="8" name="{&#10;  &quot;schema_version&quot;: &quot;2.0&quot;,&#10;  &quot;message_id&quot;: &quot;msg-">
            <a:extLst>
              <a:ext uri="{FF2B5EF4-FFF2-40B4-BE49-F238E27FC236}">
                <a16:creationId xmlns:a16="http://schemas.microsoft.com/office/drawing/2014/main" id="{14299CEE-6937-468D-B6A3-92ED4115EA5C}"/>
              </a:ext>
            </a:extLst>
          </p:cNvPr>
          <p:cNvSpPr>
            <a:spLocks noGrp="1"/>
          </p:cNvSpPr>
          <p:nvPr/>
        </p:nvSpPr>
        <p:spPr>
          <a:xfrm>
            <a:off x="7772400" y="2171700"/>
            <a:ext cx="6858000" cy="51435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"schema_version": "2.0",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"message_id": "msg-hb-001",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"sent_at": "2026-09-15T04:20:00Z",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"agent_id": "agt-lnx-01",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"agent_version": "0.1.0",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"module_version": "unix-2026.1",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"inventory_version": "inv-001",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"active_job_id": null,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"health": "READY",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"pending_result_count": 0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9" name="등록 응답: server_id, agent_id, credential_id, token, ">
            <a:extLst>
              <a:ext uri="{FF2B5EF4-FFF2-40B4-BE49-F238E27FC236}">
                <a16:creationId xmlns:a16="http://schemas.microsoft.com/office/drawing/2014/main" id="{992860FE-6247-46AE-9451-23387D975B0D}"/>
              </a:ext>
            </a:extLst>
          </p:cNvPr>
          <p:cNvSpPr>
            <a:spLocks noGrp="1"/>
          </p:cNvSpPr>
          <p:nvPr/>
        </p:nvSpPr>
        <p:spPr>
          <a:xfrm>
            <a:off x="666750" y="7553325"/>
            <a:ext cx="139160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등록 응답: server_id, agent_id, credential_id, token, expires_at   /   Heartbeat 응답: received_at, poll_after_sec</a:t>
            </a:r>
          </a:p>
        </p:txBody>
      </p:sp>
    </p:spTree>
    <p:extLst>
      <p:ext uri="{BB962C8B-B14F-4D97-AF65-F5344CB8AC3E}">
        <p14:creationId xmlns:p14="http://schemas.microsoft.com/office/powerpoint/2010/main" val="783630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점검 생성과 Agent claim 포맷">
            <a:extLst>
              <a:ext uri="{FF2B5EF4-FFF2-40B4-BE49-F238E27FC236}">
                <a16:creationId xmlns:a16="http://schemas.microsoft.com/office/drawing/2014/main" id="{8660F181-AAC9-40AF-91B7-CB70D71C00B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점검 생성과 Agent claim 포맷</a:t>
            </a:r>
          </a:p>
        </p:txBody>
      </p:sp>
      <p:sp>
        <p:nvSpPr>
          <p:cNvPr id="2" name="전체 범위는 중앙에서 OS별 전체 코드 목록으로 확정">
            <a:extLst>
              <a:ext uri="{FF2B5EF4-FFF2-40B4-BE49-F238E27FC236}">
                <a16:creationId xmlns:a16="http://schemas.microsoft.com/office/drawing/2014/main" id="{4EEE5BBF-D358-4D74-BDDB-A036C5EB8D6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전체 범위는 중앙에서 OS별 전체 코드 목록으로 확정</a:t>
            </a:r>
          </a:p>
        </p:txBody>
      </p:sp>
      <p:sp>
        <p:nvSpPr>
          <p:cNvPr id="3" name="FR-04~06, FR-17, FR-20  ·  통합 설계안 v0.3">
            <a:extLst>
              <a:ext uri="{FF2B5EF4-FFF2-40B4-BE49-F238E27FC236}">
                <a16:creationId xmlns:a16="http://schemas.microsoft.com/office/drawing/2014/main" id="{1E99D814-BFA5-4273-8126-CC75C3862E22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FR-04~06, FR-17, FR-20  ·  통합 설계안 v0.3</a:t>
            </a:r>
          </a:p>
        </p:txBody>
      </p:sp>
      <p:sp>
        <p:nvSpPr>
          <p:cNvPr id="5" name="POST /api/v2/jobs  요청">
            <a:extLst>
              <a:ext uri="{FF2B5EF4-FFF2-40B4-BE49-F238E27FC236}">
                <a16:creationId xmlns:a16="http://schemas.microsoft.com/office/drawing/2014/main" id="{3E520907-A24D-43C1-994D-4873166B7B5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057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/api/v2/jobs  요청</a:t>
            </a:r>
          </a:p>
        </p:txBody>
      </p:sp>
      <p:sp>
        <p:nvSpPr>
          <p:cNvPr id="6" name="{&#10;  &quot;action&quot;: &quot;CHECK&quot;,&#10;  &quot;server_ids&quot;: [&quot;srv-lnx-0">
            <a:extLst>
              <a:ext uri="{FF2B5EF4-FFF2-40B4-BE49-F238E27FC236}">
                <a16:creationId xmlns:a16="http://schemas.microsoft.com/office/drawing/2014/main" id="{C3C3FA46-01CE-47C7-89FD-0C99D28C03F2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6057900" cy="28384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"action": "CHECK",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"server_ids": ["srv-lnx-01"],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"scan_scope": "FULL",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"profile_id": "prof-unix",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"profile_version": "1",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"request_reason": "월 정기 전체 점검"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7" name="202 응답">
            <a:extLst>
              <a:ext uri="{FF2B5EF4-FFF2-40B4-BE49-F238E27FC236}">
                <a16:creationId xmlns:a16="http://schemas.microsoft.com/office/drawing/2014/main" id="{3006A705-DD50-4FDE-8EED-A685420A70E6}"/>
              </a:ext>
            </a:extLst>
          </p:cNvPr>
          <p:cNvSpPr>
            <a:spLocks noGrp="1"/>
          </p:cNvSpPr>
          <p:nvPr/>
        </p:nvSpPr>
        <p:spPr>
          <a:xfrm>
            <a:off x="666750" y="5457825"/>
            <a:ext cx="5981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202 응답</a:t>
            </a:r>
          </a:p>
        </p:txBody>
      </p:sp>
      <p:sp>
        <p:nvSpPr>
          <p:cNvPr id="8" name="job_id와 서버별 scan_run_id 반환">
            <a:extLst>
              <a:ext uri="{FF2B5EF4-FFF2-40B4-BE49-F238E27FC236}">
                <a16:creationId xmlns:a16="http://schemas.microsoft.com/office/drawing/2014/main" id="{85E12E6A-DD3D-48ED-AFE8-89C438CFA8C1}"/>
              </a:ext>
            </a:extLst>
          </p:cNvPr>
          <p:cNvSpPr>
            <a:spLocks noGrp="1"/>
          </p:cNvSpPr>
          <p:nvPr/>
        </p:nvSpPr>
        <p:spPr>
          <a:xfrm>
            <a:off x="666750" y="5895975"/>
            <a:ext cx="59817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job_id와 서버별 scan_run_id 반환</a:t>
            </a:r>
          </a:p>
        </p:txBody>
      </p:sp>
      <p:sp>
        <p:nvSpPr>
          <p:cNvPr id="9" name="범위 스냅샷">
            <a:extLst>
              <a:ext uri="{FF2B5EF4-FFF2-40B4-BE49-F238E27FC236}">
                <a16:creationId xmlns:a16="http://schemas.microsoft.com/office/drawing/2014/main" id="{CC0637D9-54F2-45AC-B8E5-93D533C46C81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81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범위 스냅샷</a:t>
            </a:r>
          </a:p>
        </p:txBody>
      </p:sp>
      <p:sp>
        <p:nvSpPr>
          <p:cNvPr id="10" name="FULL은 Unix 67 / Windows 64&#10;PARTIAL은 item_ids를 명시">
            <a:extLst>
              <a:ext uri="{FF2B5EF4-FFF2-40B4-BE49-F238E27FC236}">
                <a16:creationId xmlns:a16="http://schemas.microsoft.com/office/drawing/2014/main" id="{EA073D3A-7265-48B4-9C73-C015C9F77092}"/>
              </a:ext>
            </a:extLst>
          </p:cNvPr>
          <p:cNvSpPr>
            <a:spLocks noGrp="1"/>
          </p:cNvSpPr>
          <p:nvPr/>
        </p:nvSpPr>
        <p:spPr>
          <a:xfrm>
            <a:off x="666750" y="6972300"/>
            <a:ext cx="59817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FULL은 Unix 67 / Windows 64</a:t>
            </a:r>
          </a:p>
          <a:p>
            <a:pPr algn="l">
              <a:def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PARTIAL은 item_ids를 명시</a:t>
            </a:r>
          </a:p>
        </p:txBody>
      </p:sp>
      <p:sp>
        <p:nvSpPr>
          <p:cNvPr id="11" name="POST /agent-api/v2/tasks/claim  응답 예시">
            <a:extLst>
              <a:ext uri="{FF2B5EF4-FFF2-40B4-BE49-F238E27FC236}">
                <a16:creationId xmlns:a16="http://schemas.microsoft.com/office/drawing/2014/main" id="{3AB1B5F3-75CD-4879-BE9C-3587C8465708}"/>
              </a:ext>
            </a:extLst>
          </p:cNvPr>
          <p:cNvSpPr>
            <a:spLocks noGrp="1"/>
          </p:cNvSpPr>
          <p:nvPr/>
        </p:nvSpPr>
        <p:spPr>
          <a:xfrm>
            <a:off x="7115175" y="1809750"/>
            <a:ext cx="75152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/agent-api/v2/tasks/claim  응답 예시</a:t>
            </a:r>
          </a:p>
        </p:txBody>
      </p:sp>
      <p:sp>
        <p:nvSpPr>
          <p:cNvPr id="12" name="{&#10;  &quot;schema_version&quot;: &quot;2.0&quot;,&#10;  &quot;job_id&quot;: &quot;job-full">
            <a:extLst>
              <a:ext uri="{FF2B5EF4-FFF2-40B4-BE49-F238E27FC236}">
                <a16:creationId xmlns:a16="http://schemas.microsoft.com/office/drawing/2014/main" id="{50E99B28-547C-49B6-870C-E127B19130E8}"/>
              </a:ext>
            </a:extLst>
          </p:cNvPr>
          <p:cNvSpPr>
            <a:spLocks noGrp="1"/>
          </p:cNvSpPr>
          <p:nvPr/>
        </p:nvSpPr>
        <p:spPr>
          <a:xfrm>
            <a:off x="7115175" y="2228850"/>
            <a:ext cx="7515225" cy="5534025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"schema_version": "2.0",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"job_id": "job-full-09",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"scan_run_id": "run-full-09",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"server_id": "srv-lnx-01",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"agent_id": "agt-lnx-01",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"action": "CHECK",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"scan_scope": "FULL",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"attempt_id": "att-09",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"planned_item_count": 67,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"manifest_id": "manifest-unix-67-v1",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"criteria_snapshot_id": "criteria-01",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"lease_until": "2026-09-15T04:22:00Z",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"expires_at": "2026-09-15T04:30:00Z",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"authorization": {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"grant_id": null,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"approval_id": null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2747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판정 대기·증적 전송 JSON">
            <a:extLst>
              <a:ext uri="{FF2B5EF4-FFF2-40B4-BE49-F238E27FC236}">
                <a16:creationId xmlns:a16="http://schemas.microsoft.com/office/drawing/2014/main" id="{A474CB13-D404-431D-9FAA-9ACCBDEC14A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판정 대기·증적 전송 JSON</a:t>
            </a:r>
          </a:p>
        </p:txBody>
      </p:sp>
      <p:sp>
        <p:nvSpPr>
          <p:cNvPr id="2" name="자동 수집은 끝났지만 사람의 판단이 필요한 항목 예시">
            <a:extLst>
              <a:ext uri="{FF2B5EF4-FFF2-40B4-BE49-F238E27FC236}">
                <a16:creationId xmlns:a16="http://schemas.microsoft.com/office/drawing/2014/main" id="{140E9A0A-3075-4A0C-A203-136EBED922B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자동 수집은 끝났지만 사람의 판단이 필요한 항목 예시</a:t>
            </a:r>
          </a:p>
        </p:txBody>
      </p:sp>
      <p:sp>
        <p:nvSpPr>
          <p:cNvPr id="3" name="FR-07~08, FR-10, FR-17  ·  통합 설계안 v0.3">
            <a:extLst>
              <a:ext uri="{FF2B5EF4-FFF2-40B4-BE49-F238E27FC236}">
                <a16:creationId xmlns:a16="http://schemas.microsoft.com/office/drawing/2014/main" id="{34DF4CE5-7492-4D40-B8C5-D71A12031A51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FR-07~08, FR-10, FR-17  ·  통합 설계안 v0.3</a:t>
            </a:r>
          </a:p>
        </p:txBody>
      </p:sp>
      <p:sp>
        <p:nvSpPr>
          <p:cNvPr id="5" name="POST /agent-api/v2/tasks/{id}/results">
            <a:extLst>
              <a:ext uri="{FF2B5EF4-FFF2-40B4-BE49-F238E27FC236}">
                <a16:creationId xmlns:a16="http://schemas.microsoft.com/office/drawing/2014/main" id="{F1F2F11E-816B-4366-B811-3A1A9BE74AB9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757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/agent-api/v2/tasks/{id}/results</a:t>
            </a:r>
          </a:p>
        </p:txBody>
      </p:sp>
      <p:sp>
        <p:nvSpPr>
          <p:cNvPr id="6" name="{&#10;  &quot;schema_version&quot;: &quot;2.0&quot;,&#10;  &quot;message_id&quot;: &quot;msg-">
            <a:extLst>
              <a:ext uri="{FF2B5EF4-FFF2-40B4-BE49-F238E27FC236}">
                <a16:creationId xmlns:a16="http://schemas.microsoft.com/office/drawing/2014/main" id="{A2516186-F365-4B99-BAC6-A2E388682904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7572375" cy="5648325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"schema_version": "2.0",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"message_id": "msg-u64-09",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"sent_at": "2026-09-15T04:20:12Z",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"agent_id": "agt-lnx-01",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"server_id": "srv-lnx-01",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"job_id": "job-full-09",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"scan_run_id": "run-full-09",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"attempt_id": "att-09",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"result_id": "res-u64-09",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"item_id": "U-64",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"criteria_snapshot_id": "criteria-01",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"status": null,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"review_state": "PENDING",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"auto_stage_state": "COMPLETED",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"reason_code": "MANUAL_REVIEW_REQUIRED",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"observed_at": "2026-09-15T04:20:11Z",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"evidence_ids": ["ev-u64-09"],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"current_value": {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"package_snapshot": "pkg-09"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"error": null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7" name="저장되는 증적 메타데이터 — 주요 필드">
            <a:extLst>
              <a:ext uri="{FF2B5EF4-FFF2-40B4-BE49-F238E27FC236}">
                <a16:creationId xmlns:a16="http://schemas.microsoft.com/office/drawing/2014/main" id="{F3EF9093-E333-4C07-8DE2-3C9043C34E44}"/>
              </a:ext>
            </a:extLst>
          </p:cNvPr>
          <p:cNvSpPr>
            <a:spLocks noGrp="1"/>
          </p:cNvSpPr>
          <p:nvPr/>
        </p:nvSpPr>
        <p:spPr>
          <a:xfrm>
            <a:off x="8648700" y="1771650"/>
            <a:ext cx="5981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저장되는 증적 메타데이터 — 주요 필드</a:t>
            </a:r>
          </a:p>
        </p:txBody>
      </p:sp>
      <p:sp>
        <p:nvSpPr>
          <p:cNvPr id="8" name="{&#10;  &quot;evidence_id&quot;: &quot;ev-u64-09&quot;,&#10;  &quot;server_id&quot;: &quot;sr">
            <a:extLst>
              <a:ext uri="{FF2B5EF4-FFF2-40B4-BE49-F238E27FC236}">
                <a16:creationId xmlns:a16="http://schemas.microsoft.com/office/drawing/2014/main" id="{125046AA-7E44-4FE0-BA36-090198792E01}"/>
              </a:ext>
            </a:extLst>
          </p:cNvPr>
          <p:cNvSpPr>
            <a:spLocks noGrp="1"/>
          </p:cNvSpPr>
          <p:nvPr/>
        </p:nvSpPr>
        <p:spPr>
          <a:xfrm>
            <a:off x="8648700" y="2190750"/>
            <a:ext cx="5981700" cy="32956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"evidence_id": "ev-u64-09",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"server_id": "srv-lnx-01",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"scan_run_id": "run-full-09",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"item_id": "U-64",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"collector_id": "U-64.collect.v1",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"captured_at": "2026-09-15T04:20:10Z",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"redacted": true,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"media_type": "application/json"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9" name="저장 시 필수 추가값&#10;sha256 · byte_length · storage_ref&#10;접근 ">
            <a:extLst>
              <a:ext uri="{FF2B5EF4-FFF2-40B4-BE49-F238E27FC236}">
                <a16:creationId xmlns:a16="http://schemas.microsoft.com/office/drawing/2014/main" id="{787B92AB-A7FC-4EC1-A0B4-D61A16D1DCD8}"/>
              </a:ext>
            </a:extLst>
          </p:cNvPr>
          <p:cNvSpPr>
            <a:spLocks noGrp="1"/>
          </p:cNvSpPr>
          <p:nvPr/>
        </p:nvSpPr>
        <p:spPr>
          <a:xfrm>
            <a:off x="8667750" y="5848350"/>
            <a:ext cx="59055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저장 시 필수 추가값</a:t>
            </a:r>
          </a:p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sha256 · byte_length · storage_ref</a:t>
            </a:r>
          </a:p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접근 등급 · received_at</a:t>
            </a:r>
          </a:p>
        </p:txBody>
      </p:sp>
      <p:sp>
        <p:nvSpPr>
          <p:cNvPr id="10" name="Agent는 CONFIRMED를 전송할 수 없음.&#10;수동 판정은 중앙의 권한 검증 API로 ">
            <a:extLst>
              <a:ext uri="{FF2B5EF4-FFF2-40B4-BE49-F238E27FC236}">
                <a16:creationId xmlns:a16="http://schemas.microsoft.com/office/drawing/2014/main" id="{3028F61B-315C-4693-AAA2-475CF038C1C7}"/>
              </a:ext>
            </a:extLst>
          </p:cNvPr>
          <p:cNvSpPr>
            <a:spLocks noGrp="1"/>
          </p:cNvSpPr>
          <p:nvPr/>
        </p:nvSpPr>
        <p:spPr>
          <a:xfrm>
            <a:off x="8667750" y="7248525"/>
            <a:ext cx="5905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Agent는 CONFIRMED를 전송할 수 없음.</a:t>
            </a:r>
          </a:p>
          <a:p>
            <a:pPr algn="l">
              <a:def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83B50"/>
                </a:solidFill>
                <a:latin typeface="Noto Sans CJK KR"/>
                <a:ea typeface="Noto Sans CJK KR"/>
                <a:cs typeface="Noto Sans CJK KR"/>
              </a:rPr>
              <a:t>수동 판정은 중앙의 권한 검증 API로 추가.</a:t>
            </a:r>
          </a:p>
        </p:txBody>
      </p:sp>
    </p:spTree>
    <p:extLst>
      <p:ext uri="{BB962C8B-B14F-4D97-AF65-F5344CB8AC3E}">
        <p14:creationId xmlns:p14="http://schemas.microsoft.com/office/powerpoint/2010/main" val="488051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하드닝 수행 기록과 복구 요청 포맷">
            <a:extLst>
              <a:ext uri="{FF2B5EF4-FFF2-40B4-BE49-F238E27FC236}">
                <a16:creationId xmlns:a16="http://schemas.microsoft.com/office/drawing/2014/main" id="{DDF81FF2-20EB-4354-AE53-E50D876C489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하드닝 수행 기록과 복구 요청 포맷</a:t>
            </a:r>
          </a:p>
        </p:txBody>
      </p:sp>
      <p:sp>
        <p:nvSpPr>
          <p:cNvPr id="2" name="변경 전후 결과와 로컬 백업 참조를 한 수행 기록에 연결">
            <a:extLst>
              <a:ext uri="{FF2B5EF4-FFF2-40B4-BE49-F238E27FC236}">
                <a16:creationId xmlns:a16="http://schemas.microsoft.com/office/drawing/2014/main" id="{A9EEF8DE-C247-441C-8AEC-66B66B9F191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변경 전후 결과와 로컬 백업 참조를 한 수행 기록에 연결</a:t>
            </a:r>
          </a:p>
        </p:txBody>
      </p:sp>
      <p:sp>
        <p:nvSpPr>
          <p:cNvPr id="3" name="FR-12~18, NFR-01, NFR-06  ·  통합 설계안 v0.3">
            <a:extLst>
              <a:ext uri="{FF2B5EF4-FFF2-40B4-BE49-F238E27FC236}">
                <a16:creationId xmlns:a16="http://schemas.microsoft.com/office/drawing/2014/main" id="{C1717741-9847-4FFD-B10E-8C94A864DDC0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FR-12~18, NFR-01, NFR-06  ·  통합 설계안 v0.3</a:t>
            </a:r>
          </a:p>
        </p:txBody>
      </p:sp>
      <p:sp>
        <p:nvSpPr>
          <p:cNvPr id="5" name="Agent 조치 수행 레코드 예시">
            <a:extLst>
              <a:ext uri="{FF2B5EF4-FFF2-40B4-BE49-F238E27FC236}">
                <a16:creationId xmlns:a16="http://schemas.microsoft.com/office/drawing/2014/main" id="{CA0B3C1D-4D96-494D-8A95-F9E2CEC36CEA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7477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Agent 조치 수행 레코드 예시</a:t>
            </a:r>
          </a:p>
        </p:txBody>
      </p:sp>
      <p:sp>
        <p:nvSpPr>
          <p:cNvPr id="6" name="{&#10;  &quot;action_record_id&quot;: &quot;act-u01-001&quot;,&#10;  &quot;job_id&quot;:">
            <a:extLst>
              <a:ext uri="{FF2B5EF4-FFF2-40B4-BE49-F238E27FC236}">
                <a16:creationId xmlns:a16="http://schemas.microsoft.com/office/drawing/2014/main" id="{21D43518-4F2D-4EF5-88CF-E2F326F5AC1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7477125" cy="55435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"action_record_id": "act-u01-001",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"job_id": "job-harden-001",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"agent_id": "agt-lnx-01",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"item_id": "U-01",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"action": "HARDEN",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"execution_status": "SUCCEEDED",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"service_health": "HEALTHY",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"changed": true,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"approval_id": "apv-001",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"backup_id": "bak-u01-001",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"before_result_id": "res-u01-before",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"after_result_id": "res-u01-after",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"started_at": "2026-09-15T04:25:00Z",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"finished_at": "2026-09-15T04:25:12Z",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"rollback_available": true,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"error": null</a:t>
            </a:r>
          </a:p>
          <a:p>
            <a:pPr algn="l">
              <a:def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7" name="POST /api/v2/jobs  복구 요청 예시">
            <a:extLst>
              <a:ext uri="{FF2B5EF4-FFF2-40B4-BE49-F238E27FC236}">
                <a16:creationId xmlns:a16="http://schemas.microsoft.com/office/drawing/2014/main" id="{64584DFA-2764-445E-9B46-4732DF434508}"/>
              </a:ext>
            </a:extLst>
          </p:cNvPr>
          <p:cNvSpPr>
            <a:spLocks noGrp="1"/>
          </p:cNvSpPr>
          <p:nvPr/>
        </p:nvSpPr>
        <p:spPr>
          <a:xfrm>
            <a:off x="8553450" y="1790700"/>
            <a:ext cx="6076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/api/v2/jobs  복구 요청 예시</a:t>
            </a:r>
          </a:p>
        </p:txBody>
      </p:sp>
      <p:sp>
        <p:nvSpPr>
          <p:cNvPr id="8" name="{&#10;  &quot;action&quot;: &quot;ROLLBACK&quot;,&#10;  &quot;server_ids&quot;: [&quot;srv-ln">
            <a:extLst>
              <a:ext uri="{FF2B5EF4-FFF2-40B4-BE49-F238E27FC236}">
                <a16:creationId xmlns:a16="http://schemas.microsoft.com/office/drawing/2014/main" id="{2BC6C9B0-64AD-4E61-B6EA-1DA3898F6B81}"/>
              </a:ext>
            </a:extLst>
          </p:cNvPr>
          <p:cNvSpPr>
            <a:spLocks noGrp="1"/>
          </p:cNvSpPr>
          <p:nvPr/>
        </p:nvSpPr>
        <p:spPr>
          <a:xfrm>
            <a:off x="8553450" y="2209800"/>
            <a:ext cx="6076950" cy="4029075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"action": "ROLLBACK",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"server_ids": ["srv-lnx-01"],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"item_ids": ["U-01"],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"source_action_id": "act-u01-001",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"backup_id": "bak-u01-001",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"confirmation": {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"impact_reviewed": true,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"change_reviewed": true,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"recovery_plan_reviewed": true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"request_reason": "원래 접속 정책 복원"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9" name="복구도 승인·충돌 검사 대상&#10;동일 코드 재점검 + 서비스 확인&#10;백업 만료 시 수동 복구 안">
            <a:extLst>
              <a:ext uri="{FF2B5EF4-FFF2-40B4-BE49-F238E27FC236}">
                <a16:creationId xmlns:a16="http://schemas.microsoft.com/office/drawing/2014/main" id="{CC6946EB-7108-4562-93C9-FE2CC2C67CE2}"/>
              </a:ext>
            </a:extLst>
          </p:cNvPr>
          <p:cNvSpPr>
            <a:spLocks noGrp="1"/>
          </p:cNvSpPr>
          <p:nvPr/>
        </p:nvSpPr>
        <p:spPr>
          <a:xfrm>
            <a:off x="8582025" y="6667500"/>
            <a:ext cx="59817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복구도 승인·충돌 검사 대상</a:t>
            </a:r>
          </a:p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동일 코드 재점검 + 서비스 확인</a:t>
            </a:r>
          </a:p>
          <a:p>
            <a:pPr algn="l">
              <a:def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백업 만료 시 수동 복구 안내</a:t>
            </a:r>
          </a:p>
        </p:txBody>
      </p:sp>
    </p:spTree>
    <p:extLst>
      <p:ext uri="{BB962C8B-B14F-4D97-AF65-F5344CB8AC3E}">
        <p14:creationId xmlns:p14="http://schemas.microsoft.com/office/powerpoint/2010/main" val="953922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월별 비교 요청·요약 JSON">
            <a:extLst>
              <a:ext uri="{FF2B5EF4-FFF2-40B4-BE49-F238E27FC236}">
                <a16:creationId xmlns:a16="http://schemas.microsoft.com/office/drawing/2014/main" id="{E020DBEF-2128-4EE7-8DF7-2A85FE19747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월별 비교 요청·요약 JSON</a:t>
            </a:r>
          </a:p>
        </p:txBody>
      </p:sp>
      <p:sp>
        <p:nvSpPr>
          <p:cNvPr id="2" name="UI-12의 예시 숫자와 동일한 스냅샷">
            <a:extLst>
              <a:ext uri="{FF2B5EF4-FFF2-40B4-BE49-F238E27FC236}">
                <a16:creationId xmlns:a16="http://schemas.microsoft.com/office/drawing/2014/main" id="{C25733C7-3193-45A4-A41B-CC23D592013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UI-12의 예시 숫자와 동일한 스냅샷</a:t>
            </a:r>
          </a:p>
        </p:txBody>
      </p:sp>
      <p:sp>
        <p:nvSpPr>
          <p:cNvPr id="3" name="FR-19~20  ·  통합 설계안 v0.3">
            <a:extLst>
              <a:ext uri="{FF2B5EF4-FFF2-40B4-BE49-F238E27FC236}">
                <a16:creationId xmlns:a16="http://schemas.microsoft.com/office/drawing/2014/main" id="{C6FFE3F0-4720-4F3E-AE13-F40163998F98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FR-19~20  ·  통합 설계안 v0.3</a:t>
            </a:r>
          </a:p>
        </p:txBody>
      </p:sp>
      <p:sp>
        <p:nvSpPr>
          <p:cNvPr id="5" name="POST /api/v2/monthly-comparisons">
            <a:extLst>
              <a:ext uri="{FF2B5EF4-FFF2-40B4-BE49-F238E27FC236}">
                <a16:creationId xmlns:a16="http://schemas.microsoft.com/office/drawing/2014/main" id="{F760C13A-06C9-417E-B9E5-82C347881C4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14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/api/v2/monthly-comparisons</a:t>
            </a:r>
          </a:p>
        </p:txBody>
      </p:sp>
      <p:sp>
        <p:nvSpPr>
          <p:cNvPr id="6" name="{&#10;  &quot;baseline_month&quot;: &quot;2026-08&quot;,&#10;  &quot;comparison_mon">
            <a:extLst>
              <a:ext uri="{FF2B5EF4-FFF2-40B4-BE49-F238E27FC236}">
                <a16:creationId xmlns:a16="http://schemas.microsoft.com/office/drawing/2014/main" id="{0426398E-74EC-4347-B00F-49AC5132D40C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6143625" cy="25146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"baseline_month": "2026-08",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"comparison_month": "2026-09",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"filters": {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"server_ids": ["srv-lnx-01", "srv-win-01"],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"areas": [],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"severities": []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 algn="l">
              <a:def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7" name="201 응답의 제외 집계 — 발췌">
            <a:extLst>
              <a:ext uri="{FF2B5EF4-FFF2-40B4-BE49-F238E27FC236}">
                <a16:creationId xmlns:a16="http://schemas.microsoft.com/office/drawing/2014/main" id="{02684ABA-C8E8-4A37-8E64-04F3779D500B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614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201 응답의 제외 집계 — 발췌</a:t>
            </a:r>
          </a:p>
        </p:txBody>
      </p:sp>
      <p:sp>
        <p:nvSpPr>
          <p:cNvPr id="8" name="{&#10;  &quot;excluded_count&quot;: 31,&#10;  &quot;exclusion_counts&quot;: {&#10;">
            <a:extLst>
              <a:ext uri="{FF2B5EF4-FFF2-40B4-BE49-F238E27FC236}">
                <a16:creationId xmlns:a16="http://schemas.microsoft.com/office/drawing/2014/main" id="{87F3A719-100F-4C88-8029-BB291EF01B11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6143625" cy="2428875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76200" rIns="171450" bIns="57150" anchor="t">
            <a:noAutofit/>
          </a:bodyPr>
          <a:lstStyle/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"excluded_count": 31,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"exclusion_counts": {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"APPLICABILITY_CHANGED": 14,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"NON_APPLICABLE": 2,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"INCOMPARABLE": 4,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"UNCONFIRMABLE": 11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"persistent_recurrence_history_count": 6</a:t>
            </a:r>
          </a:p>
          <a:p>
            <a:pPr algn="l">
              <a:def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9" name="201 응답의 기본·전환 집계 — 발췌">
            <a:extLst>
              <a:ext uri="{FF2B5EF4-FFF2-40B4-BE49-F238E27FC236}">
                <a16:creationId xmlns:a16="http://schemas.microsoft.com/office/drawing/2014/main" id="{3D23012A-5255-4D76-9084-6A29ECF78B7B}"/>
              </a:ext>
            </a:extLst>
          </p:cNvPr>
          <p:cNvSpPr>
            <a:spLocks noGrp="1"/>
          </p:cNvSpPr>
          <p:nvPr/>
        </p:nvSpPr>
        <p:spPr>
          <a:xfrm>
            <a:off x="7248525" y="1809750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201 응답의 기본·전환 집계 — 발췌</a:t>
            </a:r>
          </a:p>
        </p:txBody>
      </p:sp>
      <p:sp>
        <p:nvSpPr>
          <p:cNvPr id="10" name="{&#10;  &quot;schema_version&quot;: &quot;2.0&quot;,&#10;  &quot;comparison_id&quot;: &quot;m">
            <a:extLst>
              <a:ext uri="{FF2B5EF4-FFF2-40B4-BE49-F238E27FC236}">
                <a16:creationId xmlns:a16="http://schemas.microsoft.com/office/drawing/2014/main" id="{280CF449-AF8A-495E-BD44-B3A0E05002D6}"/>
              </a:ext>
            </a:extLst>
          </p:cNvPr>
          <p:cNvSpPr>
            <a:spLocks noGrp="1"/>
          </p:cNvSpPr>
          <p:nvPr/>
        </p:nvSpPr>
        <p:spPr>
          <a:xfrm>
            <a:off x="7248525" y="2228850"/>
            <a:ext cx="7381875" cy="56197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"schema_version": "2.0",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"comparison_id": "mc-001",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"snapshot_id": "snap-001",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"baseline_month": "2026-08",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"comparison_month": "2026-09",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"timezone": "Asia/Seoul",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"as_of": "2026-09-15T04:30:00Z",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"provisional": true,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"comparable_count": 100,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"transition_counts": {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"NEW": 10,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"RECURRENT": 4,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"RESOLVED": 20,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"PERSISTENT": 20,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"HEALTHY": 46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"comparable_fail_before": 40,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"comparable_fail_after": 34,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"vulnerability_delta": -6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4502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월별 항목 상세·수동 판정 JSON">
            <a:extLst>
              <a:ext uri="{FF2B5EF4-FFF2-40B4-BE49-F238E27FC236}">
                <a16:creationId xmlns:a16="http://schemas.microsoft.com/office/drawing/2014/main" id="{6004DD6A-7549-4A6A-81BC-7244A66AB5E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02A43"/>
                </a:solidFill>
                <a:latin typeface="Noto Sans CJK KR"/>
                <a:ea typeface="Noto Sans CJK KR"/>
                <a:cs typeface="Noto Sans CJK KR"/>
              </a:rPr>
              <a:t>월별 항목 상세·수동 판정 JSON</a:t>
            </a:r>
          </a:p>
        </p:txBody>
      </p:sp>
      <p:sp>
        <p:nvSpPr>
          <p:cNvPr id="2" name="판정은 원본 결과를 덮어쓰지 않는 별도 기록">
            <a:extLst>
              <a:ext uri="{FF2B5EF4-FFF2-40B4-BE49-F238E27FC236}">
                <a16:creationId xmlns:a16="http://schemas.microsoft.com/office/drawing/2014/main" id="{E55F8539-2278-4C1F-BD5D-907A902C8DC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3982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판정은 원본 결과를 덮어쓰지 않는 별도 기록</a:t>
            </a:r>
          </a:p>
        </p:txBody>
      </p:sp>
      <p:sp>
        <p:nvSpPr>
          <p:cNvPr id="3" name="FR-07, FR-17~20  ·  통합 설계안 v0.3">
            <a:extLst>
              <a:ext uri="{FF2B5EF4-FFF2-40B4-BE49-F238E27FC236}">
                <a16:creationId xmlns:a16="http://schemas.microsoft.com/office/drawing/2014/main" id="{4FC33D0F-A6F5-490D-A0B2-878B8A79DB7C}"/>
              </a:ext>
            </a:extLst>
          </p:cNvPr>
          <p:cNvSpPr>
            <a:spLocks noGrp="1"/>
          </p:cNvSpPr>
          <p:nvPr/>
        </p:nvSpPr>
        <p:spPr>
          <a:xfrm>
            <a:off x="628650" y="8134350"/>
            <a:ext cx="1333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E7282"/>
                </a:solidFill>
                <a:latin typeface="Noto Sans CJK KR"/>
                <a:ea typeface="Noto Sans CJK KR"/>
                <a:cs typeface="Noto Sans CJK KR"/>
              </a:rPr>
              <a:t>FR-07, FR-17~20  ·  통합 설계안 v0.3</a:t>
            </a:r>
          </a:p>
        </p:txBody>
      </p:sp>
      <p:sp>
        <p:nvSpPr>
          <p:cNvPr id="5" name="GET /monthly-comparisons/{id}/items/...">
            <a:extLst>
              <a:ext uri="{FF2B5EF4-FFF2-40B4-BE49-F238E27FC236}">
                <a16:creationId xmlns:a16="http://schemas.microsoft.com/office/drawing/2014/main" id="{5695EFEB-CBAA-468E-95B7-8BFC33675AF6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75533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GET /monthly-comparisons/{id}/items/...</a:t>
            </a:r>
          </a:p>
        </p:txBody>
      </p:sp>
      <p:sp>
        <p:nvSpPr>
          <p:cNvPr id="6" name="{&#10;  &quot;server_id&quot;: &quot;srv-lnx-01&quot;,&#10;  &quot;item_id&quot;: &quot;U-01&quot;">
            <a:extLst>
              <a:ext uri="{FF2B5EF4-FFF2-40B4-BE49-F238E27FC236}">
                <a16:creationId xmlns:a16="http://schemas.microsoft.com/office/drawing/2014/main" id="{B54D9A98-2271-48EB-BF7B-7D9E8168DF13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7553325" cy="56388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"server_id": "srv-lnx-01",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"item_id": "U-01",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"classification": "RECURRENT",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"primary_exclusion": null,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"recurrence_history": false,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"baseline": {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"scan_run_id": "run-full-08",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"judgment_id": "j-u01-08",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"status": "PASS"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"comparison": {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"scan_run_id": "run-full-09",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"judgment_id": "j-u01-09",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"status": "FAIL"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"criteria_relation_id": null,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"recurrence_judgment_ids": ["j-u01-07", "j-u01-08", "j-u01-09"],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"grouping": {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"area": "ACCOUNT",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  "severity": "HIGH"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},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"history_start": "2025-08-15T00:00:00Z"</a:t>
            </a:r>
          </a:p>
          <a:p>
            <a:pPr algn="l">
              <a:def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7" name="POST /api/v2/results/{id}/reviews">
            <a:extLst>
              <a:ext uri="{FF2B5EF4-FFF2-40B4-BE49-F238E27FC236}">
                <a16:creationId xmlns:a16="http://schemas.microsoft.com/office/drawing/2014/main" id="{F9ABDA09-9F01-4856-849F-C5FC6D4188B4}"/>
              </a:ext>
            </a:extLst>
          </p:cNvPr>
          <p:cNvSpPr>
            <a:spLocks noGrp="1"/>
          </p:cNvSpPr>
          <p:nvPr/>
        </p:nvSpPr>
        <p:spPr>
          <a:xfrm>
            <a:off x="8610600" y="1771650"/>
            <a:ext cx="6019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POST /api/v2/results/{id}/reviews</a:t>
            </a:r>
          </a:p>
        </p:txBody>
      </p:sp>
      <p:sp>
        <p:nvSpPr>
          <p:cNvPr id="8" name="{&#10;  &quot;status&quot;: &quot;PASS&quot;,&#10;  &quot;reason&quot;: &quot;증적과 기관 패치 정책 대조">
            <a:extLst>
              <a:ext uri="{FF2B5EF4-FFF2-40B4-BE49-F238E27FC236}">
                <a16:creationId xmlns:a16="http://schemas.microsoft.com/office/drawing/2014/main" id="{7140BF95-C270-4E66-8C30-C00E1369DA81}"/>
              </a:ext>
            </a:extLst>
          </p:cNvPr>
          <p:cNvSpPr>
            <a:spLocks noGrp="1"/>
          </p:cNvSpPr>
          <p:nvPr/>
        </p:nvSpPr>
        <p:spPr>
          <a:xfrm>
            <a:off x="8610600" y="2190750"/>
            <a:ext cx="6019800" cy="2085975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"status": "PASS",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"reason": "증적과 기관 패치 정책 대조 완료",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"evidence_ids": ["ev-u64-review"]</a:t>
            </a:r>
          </a:p>
          <a:p>
            <a:pPr algn="l">
              <a:def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9" name="201 응답">
            <a:extLst>
              <a:ext uri="{FF2B5EF4-FFF2-40B4-BE49-F238E27FC236}">
                <a16:creationId xmlns:a16="http://schemas.microsoft.com/office/drawing/2014/main" id="{7507220B-A1A1-4CA5-BF9D-92A53D264E38}"/>
              </a:ext>
            </a:extLst>
          </p:cNvPr>
          <p:cNvSpPr>
            <a:spLocks noGrp="1"/>
          </p:cNvSpPr>
          <p:nvPr/>
        </p:nvSpPr>
        <p:spPr>
          <a:xfrm>
            <a:off x="8610600" y="4695825"/>
            <a:ext cx="6019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26E82"/>
                </a:solidFill>
                <a:latin typeface="Noto Sans CJK KR"/>
                <a:ea typeface="Noto Sans CJK KR"/>
                <a:cs typeface="Noto Sans CJK KR"/>
              </a:rPr>
              <a:t>201 응답</a:t>
            </a:r>
          </a:p>
        </p:txBody>
      </p:sp>
      <p:sp>
        <p:nvSpPr>
          <p:cNvPr id="10" name="{&#10;  &quot;judgment_id&quot;: &quot;j-u64-review&quot;,&#10;  &quot;result_id&quot;: ">
            <a:extLst>
              <a:ext uri="{FF2B5EF4-FFF2-40B4-BE49-F238E27FC236}">
                <a16:creationId xmlns:a16="http://schemas.microsoft.com/office/drawing/2014/main" id="{325010CC-9B2D-46EA-A4F8-79207E873FD7}"/>
              </a:ext>
            </a:extLst>
          </p:cNvPr>
          <p:cNvSpPr>
            <a:spLocks noGrp="1"/>
          </p:cNvSpPr>
          <p:nvPr/>
        </p:nvSpPr>
        <p:spPr>
          <a:xfrm>
            <a:off x="8610600" y="5114925"/>
            <a:ext cx="6019800" cy="2752725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wrap="square" lIns="190500" tIns="152400" rIns="171450" bIns="133350" anchor="t">
            <a:noAutofit/>
          </a:bodyPr>
          <a:lstStyle/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"judgment_id": "j-u64-review",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"result_id": "res-u64-09",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"source": "MANUAL",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"status": "PASS",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"review_state": "CONFIRMED",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"actor_id": "user-reviewer-01",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"recorded_at": "2026-09-15T05:00:00Z",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  "supersedes_id": null</a:t>
            </a:r>
          </a:p>
          <a:p>
            <a:pPr algn="l">
              <a:def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38" b="0">
                <a:solidFill>
                  <a:srgbClr val="E6F1F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1296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8129</Words>
  <Application>Microsoft Office PowerPoint</Application>
  <DocSecurity>0</DocSecurity>
  <PresentationFormat>사용자 지정</PresentationFormat>
  <Paragraphs>1357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6" baseType="lpstr">
      <vt:lpstr>Noto Sans CJK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 나윤</cp:lastModifiedBy>
  <cp:revision>7</cp:revision>
  <dcterms:created xsi:type="dcterms:W3CDTF">2026-09-15T03:06:59Z</dcterms:created>
  <dcterms:modified xsi:type="dcterms:W3CDTF">2026-09-22T01:23:48Z</dcterms:modified>
</cp:coreProperties>
</file>